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sldIdLst>
    <p:sldId id="256" r:id="rId2"/>
    <p:sldId id="273" r:id="rId3"/>
    <p:sldId id="257" r:id="rId4"/>
    <p:sldId id="258" r:id="rId5"/>
    <p:sldId id="259" r:id="rId6"/>
    <p:sldId id="274" r:id="rId7"/>
    <p:sldId id="260" r:id="rId8"/>
    <p:sldId id="275" r:id="rId9"/>
    <p:sldId id="276" r:id="rId10"/>
    <p:sldId id="277" r:id="rId11"/>
    <p:sldId id="278" r:id="rId12"/>
    <p:sldId id="279" r:id="rId13"/>
    <p:sldId id="280" r:id="rId14"/>
    <p:sldId id="28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81" d="100"/>
          <a:sy n="81" d="100"/>
        </p:scale>
        <p:origin x="75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BCBA08F-C74A-4DA3-AF48-FEC0A1DC10E6}" type="datetimeFigureOut">
              <a:rPr lang="en-IN" smtClean="0"/>
              <a:t>19-04-2026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5665C8DE-1BE4-497C-B055-701E864A1C06}"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36672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CBA08F-C74A-4DA3-AF48-FEC0A1DC10E6}"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65C8DE-1BE4-497C-B055-701E864A1C06}"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06788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CBA08F-C74A-4DA3-AF48-FEC0A1DC10E6}"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65C8DE-1BE4-497C-B055-701E864A1C06}"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37660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CBA08F-C74A-4DA3-AF48-FEC0A1DC10E6}" type="datetimeFigureOut">
              <a:rPr lang="en-IN" smtClean="0"/>
              <a:t>19-04-2026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65C8DE-1BE4-497C-B055-701E864A1C06}"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93457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BCBA08F-C74A-4DA3-AF48-FEC0A1DC10E6}" type="datetimeFigureOut">
              <a:rPr lang="en-IN" smtClean="0"/>
              <a:t>19-04-2026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665C8DE-1BE4-497C-B055-701E864A1C06}"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24461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BCBA08F-C74A-4DA3-AF48-FEC0A1DC10E6}" type="datetimeFigureOut">
              <a:rPr lang="en-IN" smtClean="0"/>
              <a:t>19-04-2026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665C8DE-1BE4-497C-B055-701E864A1C06}"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68672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CBA08F-C74A-4DA3-AF48-FEC0A1DC10E6}" type="datetimeFigureOut">
              <a:rPr lang="en-IN" smtClean="0"/>
              <a:t>19-04-2026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665C8DE-1BE4-497C-B055-701E864A1C06}" type="slidenum">
              <a:rPr lang="en-IN" smtClean="0"/>
              <a:t>‹#›</a:t>
            </a:fld>
            <a:endParaRPr lang="en-IN"/>
          </a:p>
        </p:txBody>
      </p:sp>
    </p:spTree>
    <p:extLst>
      <p:ext uri="{BB962C8B-B14F-4D97-AF65-F5344CB8AC3E}">
        <p14:creationId xmlns:p14="http://schemas.microsoft.com/office/powerpoint/2010/main" val="1087401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BCBA08F-C74A-4DA3-AF48-FEC0A1DC10E6}" type="datetimeFigureOut">
              <a:rPr lang="en-IN" smtClean="0"/>
              <a:t>19-04-2026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65C8DE-1BE4-497C-B055-701E864A1C06}"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4417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CBCBA08F-C74A-4DA3-AF48-FEC0A1DC10E6}" type="datetimeFigureOut">
              <a:rPr lang="en-IN" smtClean="0"/>
              <a:t>19-04-2026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5665C8DE-1BE4-497C-B055-701E864A1C06}"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49943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CBA08F-C74A-4DA3-AF48-FEC0A1DC10E6}"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65C8DE-1BE4-497C-B055-701E864A1C06}"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95778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CBA08F-C74A-4DA3-AF48-FEC0A1DC10E6}"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65C8DE-1BE4-497C-B055-701E864A1C06}"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480371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878B4B-D839-419A-BC2C-24F71599AA3F}"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37C6A4-C2F0-440E-B3D0-F947F0A7B0D3}" type="slidenum">
              <a:rPr lang="en-IN" smtClean="0"/>
              <a:t>‹#›</a:t>
            </a:fld>
            <a:endParaRPr lang="en-IN"/>
          </a:p>
        </p:txBody>
      </p:sp>
    </p:spTree>
    <p:extLst>
      <p:ext uri="{BB962C8B-B14F-4D97-AF65-F5344CB8AC3E}">
        <p14:creationId xmlns:p14="http://schemas.microsoft.com/office/powerpoint/2010/main" val="1429124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CBCBA08F-C74A-4DA3-AF48-FEC0A1DC10E6}" type="datetimeFigureOut">
              <a:rPr lang="en-IN" smtClean="0"/>
              <a:t>19-04-2026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665C8DE-1BE4-497C-B055-701E864A1C06}"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2560920"/>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9AAC9-6AF8-C1A0-84A4-BBD3196D3815}"/>
              </a:ext>
            </a:extLst>
          </p:cNvPr>
          <p:cNvSpPr>
            <a:spLocks noGrp="1"/>
          </p:cNvSpPr>
          <p:nvPr>
            <p:ph type="title"/>
          </p:nvPr>
        </p:nvSpPr>
        <p:spPr/>
        <p:txBody>
          <a:bodyPr/>
          <a:lstStyle/>
          <a:p>
            <a:r>
              <a:rPr lang="en-IN" sz="3200" b="1" cap="none"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EXPLORING THE CHINOOK MUSIC STORE DATABASE</a:t>
            </a:r>
            <a:endParaRPr lang="en-IN" dirty="0"/>
          </a:p>
        </p:txBody>
      </p:sp>
      <p:pic>
        <p:nvPicPr>
          <p:cNvPr id="1026" name="Picture 2" descr="Chinook Music | 9:00-6:00 Monday-Saturday">
            <a:extLst>
              <a:ext uri="{FF2B5EF4-FFF2-40B4-BE49-F238E27FC236}">
                <a16:creationId xmlns:a16="http://schemas.microsoft.com/office/drawing/2014/main" id="{D7F25772-1BB1-FA56-AEE3-2A4E5F11EC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381" y="2085004"/>
            <a:ext cx="4686779" cy="232135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361EE4F-5670-A5A9-4AB0-57FA1A90157A}"/>
              </a:ext>
            </a:extLst>
          </p:cNvPr>
          <p:cNvSpPr txBox="1"/>
          <p:nvPr/>
        </p:nvSpPr>
        <p:spPr>
          <a:xfrm>
            <a:off x="3421929" y="4637605"/>
            <a:ext cx="4686779" cy="461665"/>
          </a:xfrm>
          <a:prstGeom prst="rect">
            <a:avLst/>
          </a:prstGeom>
          <a:noFill/>
        </p:spPr>
        <p:txBody>
          <a:bodyPr wrap="square" rtlCol="0">
            <a:spAutoFit/>
          </a:bodyPr>
          <a:lstStyle/>
          <a:p>
            <a:r>
              <a:rPr lang="en-US" sz="2400" b="1" dirty="0"/>
              <a:t>Presented By : Piyush Bagade</a:t>
            </a:r>
            <a:endParaRPr lang="en-IN" sz="2400" b="1" dirty="0"/>
          </a:p>
        </p:txBody>
      </p:sp>
    </p:spTree>
    <p:extLst>
      <p:ext uri="{BB962C8B-B14F-4D97-AF65-F5344CB8AC3E}">
        <p14:creationId xmlns:p14="http://schemas.microsoft.com/office/powerpoint/2010/main" val="308664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13ADB-3B39-DC30-336B-FF1EFEA300EF}"/>
              </a:ext>
            </a:extLst>
          </p:cNvPr>
          <p:cNvSpPr>
            <a:spLocks noGrp="1"/>
          </p:cNvSpPr>
          <p:nvPr>
            <p:ph type="title"/>
          </p:nvPr>
        </p:nvSpPr>
        <p:spPr>
          <a:xfrm>
            <a:off x="1131216" y="804519"/>
            <a:ext cx="9603275" cy="1049235"/>
          </a:xfrm>
        </p:spPr>
        <p:txBody>
          <a:bodyPr/>
          <a:lstStyle/>
          <a:p>
            <a:r>
              <a:rPr lang="en-IN" dirty="0"/>
              <a:t>Problem statement</a:t>
            </a:r>
          </a:p>
        </p:txBody>
      </p:sp>
      <p:sp>
        <p:nvSpPr>
          <p:cNvPr id="3" name="TextBox 2">
            <a:extLst>
              <a:ext uri="{FF2B5EF4-FFF2-40B4-BE49-F238E27FC236}">
                <a16:creationId xmlns:a16="http://schemas.microsoft.com/office/drawing/2014/main" id="{FED00246-AFE0-D679-9C9F-9B794EB9C5E1}"/>
              </a:ext>
            </a:extLst>
          </p:cNvPr>
          <p:cNvSpPr txBox="1"/>
          <p:nvPr/>
        </p:nvSpPr>
        <p:spPr>
          <a:xfrm>
            <a:off x="1036948" y="1476682"/>
            <a:ext cx="8276735" cy="2677656"/>
          </a:xfrm>
          <a:prstGeom prst="rect">
            <a:avLst/>
          </a:prstGeom>
          <a:noFill/>
        </p:spPr>
        <p:txBody>
          <a:bodyPr wrap="square" rtlCol="0">
            <a:spAutoFit/>
          </a:bodyPr>
          <a:lstStyle/>
          <a:p>
            <a:r>
              <a:rPr lang="en-US" sz="2400" dirty="0"/>
              <a:t>As a data analyst at Chinook, your role is to examine music sales data to uncover meaningful patterns, understand customer behavior, and identify trends in the physical music industry. Based on these insights, you are expected to provide strategic recommendations that can help the company improve performance, optimize sales, and strengthen its position in the market.</a:t>
            </a:r>
          </a:p>
        </p:txBody>
      </p:sp>
    </p:spTree>
    <p:extLst>
      <p:ext uri="{BB962C8B-B14F-4D97-AF65-F5344CB8AC3E}">
        <p14:creationId xmlns:p14="http://schemas.microsoft.com/office/powerpoint/2010/main" val="1706263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01F07-55D7-F27F-868B-D4EF671AAE12}"/>
              </a:ext>
            </a:extLst>
          </p:cNvPr>
          <p:cNvSpPr>
            <a:spLocks noGrp="1"/>
          </p:cNvSpPr>
          <p:nvPr>
            <p:ph type="title"/>
          </p:nvPr>
        </p:nvSpPr>
        <p:spPr>
          <a:xfrm>
            <a:off x="685800" y="342606"/>
            <a:ext cx="9603275" cy="1049235"/>
          </a:xfrm>
        </p:spPr>
        <p:txBody>
          <a:bodyPr/>
          <a:lstStyle/>
          <a:p>
            <a:r>
              <a:rPr lang="en-US" dirty="0"/>
              <a:t>From Music to Customer: Chinook Workflow</a:t>
            </a:r>
            <a:endParaRPr lang="en-IN" dirty="0"/>
          </a:p>
        </p:txBody>
      </p:sp>
      <p:sp>
        <p:nvSpPr>
          <p:cNvPr id="6" name="Rectangle: Rounded Corners 5">
            <a:extLst>
              <a:ext uri="{FF2B5EF4-FFF2-40B4-BE49-F238E27FC236}">
                <a16:creationId xmlns:a16="http://schemas.microsoft.com/office/drawing/2014/main" id="{CC85BE3F-9267-F619-D5D6-424D1433E76E}"/>
              </a:ext>
            </a:extLst>
          </p:cNvPr>
          <p:cNvSpPr/>
          <p:nvPr/>
        </p:nvSpPr>
        <p:spPr>
          <a:xfrm>
            <a:off x="556253" y="2166492"/>
            <a:ext cx="1991412" cy="917728"/>
          </a:xfrm>
          <a:prstGeom prst="round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Content Management</a:t>
            </a:r>
          </a:p>
        </p:txBody>
      </p:sp>
      <p:sp>
        <p:nvSpPr>
          <p:cNvPr id="7" name="Rectangle: Rounded Corners 6">
            <a:extLst>
              <a:ext uri="{FF2B5EF4-FFF2-40B4-BE49-F238E27FC236}">
                <a16:creationId xmlns:a16="http://schemas.microsoft.com/office/drawing/2014/main" id="{581D6BB3-158F-CEDA-B6E7-025BD15ED0A4}"/>
              </a:ext>
            </a:extLst>
          </p:cNvPr>
          <p:cNvSpPr/>
          <p:nvPr/>
        </p:nvSpPr>
        <p:spPr>
          <a:xfrm>
            <a:off x="2799941" y="2185347"/>
            <a:ext cx="2113961" cy="898873"/>
          </a:xfrm>
          <a:prstGeom prst="round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err="1">
                <a:solidFill>
                  <a:schemeClr val="tx1"/>
                </a:solidFill>
              </a:rPr>
              <a:t>Catalog</a:t>
            </a:r>
            <a:r>
              <a:rPr lang="en-IN" b="1" dirty="0">
                <a:solidFill>
                  <a:schemeClr val="tx1"/>
                </a:solidFill>
              </a:rPr>
              <a:t> Setup</a:t>
            </a:r>
          </a:p>
        </p:txBody>
      </p:sp>
      <p:sp>
        <p:nvSpPr>
          <p:cNvPr id="8" name="Rectangle: Rounded Corners 7">
            <a:extLst>
              <a:ext uri="{FF2B5EF4-FFF2-40B4-BE49-F238E27FC236}">
                <a16:creationId xmlns:a16="http://schemas.microsoft.com/office/drawing/2014/main" id="{36A828F6-C88D-471D-1EA4-2CEBFEC48B9B}"/>
              </a:ext>
            </a:extLst>
          </p:cNvPr>
          <p:cNvSpPr/>
          <p:nvPr/>
        </p:nvSpPr>
        <p:spPr>
          <a:xfrm>
            <a:off x="5164818" y="2185347"/>
            <a:ext cx="2113961" cy="917729"/>
          </a:xfrm>
          <a:prstGeom prst="round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User Interaction</a:t>
            </a:r>
          </a:p>
        </p:txBody>
      </p:sp>
      <p:sp>
        <p:nvSpPr>
          <p:cNvPr id="9" name="Rectangle: Rounded Corners 8">
            <a:extLst>
              <a:ext uri="{FF2B5EF4-FFF2-40B4-BE49-F238E27FC236}">
                <a16:creationId xmlns:a16="http://schemas.microsoft.com/office/drawing/2014/main" id="{F8FF70FE-A7B8-F60D-3680-5B1CBB9D006B}"/>
              </a:ext>
            </a:extLst>
          </p:cNvPr>
          <p:cNvSpPr/>
          <p:nvPr/>
        </p:nvSpPr>
        <p:spPr>
          <a:xfrm>
            <a:off x="7530374" y="2224718"/>
            <a:ext cx="2113961" cy="880017"/>
          </a:xfrm>
          <a:prstGeom prst="round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Purchase Process</a:t>
            </a:r>
          </a:p>
        </p:txBody>
      </p:sp>
      <p:sp>
        <p:nvSpPr>
          <p:cNvPr id="10" name="Rectangle: Rounded Corners 9">
            <a:extLst>
              <a:ext uri="{FF2B5EF4-FFF2-40B4-BE49-F238E27FC236}">
                <a16:creationId xmlns:a16="http://schemas.microsoft.com/office/drawing/2014/main" id="{F249648E-5970-4202-9098-1BFB3BF9477E}"/>
              </a:ext>
            </a:extLst>
          </p:cNvPr>
          <p:cNvSpPr/>
          <p:nvPr/>
        </p:nvSpPr>
        <p:spPr>
          <a:xfrm>
            <a:off x="9895930" y="2224717"/>
            <a:ext cx="2113961" cy="880017"/>
          </a:xfrm>
          <a:prstGeom prst="round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Payment &amp; Delivery</a:t>
            </a:r>
          </a:p>
        </p:txBody>
      </p:sp>
      <p:sp>
        <p:nvSpPr>
          <p:cNvPr id="11" name="Rectangle: Rounded Corners 10">
            <a:extLst>
              <a:ext uri="{FF2B5EF4-FFF2-40B4-BE49-F238E27FC236}">
                <a16:creationId xmlns:a16="http://schemas.microsoft.com/office/drawing/2014/main" id="{AECCB9AF-726E-DFB7-DD86-6EAB1E6A1132}"/>
              </a:ext>
            </a:extLst>
          </p:cNvPr>
          <p:cNvSpPr/>
          <p:nvPr/>
        </p:nvSpPr>
        <p:spPr>
          <a:xfrm>
            <a:off x="595254" y="1256335"/>
            <a:ext cx="1913409" cy="754137"/>
          </a:xfrm>
          <a:prstGeom prst="roundRect">
            <a:avLst/>
          </a:prstGeom>
          <a:solidFill>
            <a:schemeClr val="bg2"/>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Phase 1</a:t>
            </a:r>
            <a:endParaRPr lang="en-IN" dirty="0"/>
          </a:p>
        </p:txBody>
      </p:sp>
      <p:sp>
        <p:nvSpPr>
          <p:cNvPr id="12" name="Rectangle: Rounded Corners 11">
            <a:extLst>
              <a:ext uri="{FF2B5EF4-FFF2-40B4-BE49-F238E27FC236}">
                <a16:creationId xmlns:a16="http://schemas.microsoft.com/office/drawing/2014/main" id="{E29F2366-397B-911B-AA52-40AE85FC2875}"/>
              </a:ext>
            </a:extLst>
          </p:cNvPr>
          <p:cNvSpPr/>
          <p:nvPr/>
        </p:nvSpPr>
        <p:spPr>
          <a:xfrm>
            <a:off x="2830555" y="1256335"/>
            <a:ext cx="2046007" cy="754137"/>
          </a:xfrm>
          <a:prstGeom prst="roundRect">
            <a:avLst/>
          </a:prstGeom>
          <a:solidFill>
            <a:schemeClr val="bg2"/>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Phase 2 </a:t>
            </a:r>
            <a:endParaRPr lang="en-IN" dirty="0"/>
          </a:p>
        </p:txBody>
      </p:sp>
      <p:sp>
        <p:nvSpPr>
          <p:cNvPr id="13" name="Rectangle: Rounded Corners 12">
            <a:extLst>
              <a:ext uri="{FF2B5EF4-FFF2-40B4-BE49-F238E27FC236}">
                <a16:creationId xmlns:a16="http://schemas.microsoft.com/office/drawing/2014/main" id="{F8701E77-228F-E07D-FDAF-5ED386031F49}"/>
              </a:ext>
            </a:extLst>
          </p:cNvPr>
          <p:cNvSpPr/>
          <p:nvPr/>
        </p:nvSpPr>
        <p:spPr>
          <a:xfrm>
            <a:off x="7530374" y="1249473"/>
            <a:ext cx="2113961" cy="754137"/>
          </a:xfrm>
          <a:prstGeom prst="roundRect">
            <a:avLst/>
          </a:prstGeom>
          <a:solidFill>
            <a:schemeClr val="bg2"/>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Phase 4</a:t>
            </a:r>
            <a:endParaRPr lang="en-IN" dirty="0"/>
          </a:p>
        </p:txBody>
      </p:sp>
      <p:sp>
        <p:nvSpPr>
          <p:cNvPr id="14" name="Rectangle: Rounded Corners 13">
            <a:extLst>
              <a:ext uri="{FF2B5EF4-FFF2-40B4-BE49-F238E27FC236}">
                <a16:creationId xmlns:a16="http://schemas.microsoft.com/office/drawing/2014/main" id="{C09D9023-51D4-9944-48CF-343EE65723FD}"/>
              </a:ext>
            </a:extLst>
          </p:cNvPr>
          <p:cNvSpPr/>
          <p:nvPr/>
        </p:nvSpPr>
        <p:spPr>
          <a:xfrm>
            <a:off x="5198454" y="1249474"/>
            <a:ext cx="2046687" cy="754137"/>
          </a:xfrm>
          <a:prstGeom prst="roundRect">
            <a:avLst/>
          </a:prstGeom>
          <a:solidFill>
            <a:schemeClr val="bg2"/>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Phase 3 </a:t>
            </a:r>
            <a:endParaRPr lang="en-IN" dirty="0"/>
          </a:p>
        </p:txBody>
      </p:sp>
      <p:sp>
        <p:nvSpPr>
          <p:cNvPr id="15" name="Rectangle: Rounded Corners 14">
            <a:extLst>
              <a:ext uri="{FF2B5EF4-FFF2-40B4-BE49-F238E27FC236}">
                <a16:creationId xmlns:a16="http://schemas.microsoft.com/office/drawing/2014/main" id="{5AF9C2E5-8F9D-D3BD-9476-9D0ABABC9730}"/>
              </a:ext>
            </a:extLst>
          </p:cNvPr>
          <p:cNvSpPr/>
          <p:nvPr/>
        </p:nvSpPr>
        <p:spPr>
          <a:xfrm>
            <a:off x="9860295" y="1256334"/>
            <a:ext cx="2149596" cy="754137"/>
          </a:xfrm>
          <a:prstGeom prst="roundRect">
            <a:avLst/>
          </a:prstGeom>
          <a:solidFill>
            <a:schemeClr val="bg2"/>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Phase 5 </a:t>
            </a:r>
            <a:endParaRPr lang="en-IN" dirty="0"/>
          </a:p>
        </p:txBody>
      </p:sp>
      <p:sp>
        <p:nvSpPr>
          <p:cNvPr id="16" name="TextBox 15">
            <a:extLst>
              <a:ext uri="{FF2B5EF4-FFF2-40B4-BE49-F238E27FC236}">
                <a16:creationId xmlns:a16="http://schemas.microsoft.com/office/drawing/2014/main" id="{F51FCA5E-510F-02D7-CFB6-6EC7AC38BED8}"/>
              </a:ext>
            </a:extLst>
          </p:cNvPr>
          <p:cNvSpPr txBox="1"/>
          <p:nvPr/>
        </p:nvSpPr>
        <p:spPr>
          <a:xfrm>
            <a:off x="685800" y="3370082"/>
            <a:ext cx="1861865" cy="1477328"/>
          </a:xfrm>
          <a:prstGeom prst="rect">
            <a:avLst/>
          </a:prstGeom>
          <a:noFill/>
        </p:spPr>
        <p:txBody>
          <a:bodyPr wrap="square" rtlCol="0">
            <a:spAutoFit/>
          </a:bodyPr>
          <a:lstStyle/>
          <a:p>
            <a:r>
              <a:rPr lang="en-US" dirty="0"/>
              <a:t>Music data (artists, albums, tracks) is added and maintained.</a:t>
            </a:r>
          </a:p>
          <a:p>
            <a:endParaRPr lang="en-IN" dirty="0"/>
          </a:p>
        </p:txBody>
      </p:sp>
      <p:sp>
        <p:nvSpPr>
          <p:cNvPr id="17" name="TextBox 16">
            <a:extLst>
              <a:ext uri="{FF2B5EF4-FFF2-40B4-BE49-F238E27FC236}">
                <a16:creationId xmlns:a16="http://schemas.microsoft.com/office/drawing/2014/main" id="{D72EA238-25D9-FB30-3B9E-E6630C86730F}"/>
              </a:ext>
            </a:extLst>
          </p:cNvPr>
          <p:cNvSpPr txBox="1"/>
          <p:nvPr/>
        </p:nvSpPr>
        <p:spPr>
          <a:xfrm>
            <a:off x="2842503" y="3318980"/>
            <a:ext cx="2113961" cy="1477328"/>
          </a:xfrm>
          <a:prstGeom prst="rect">
            <a:avLst/>
          </a:prstGeom>
          <a:noFill/>
        </p:spPr>
        <p:txBody>
          <a:bodyPr wrap="square" rtlCol="0">
            <a:spAutoFit/>
          </a:bodyPr>
          <a:lstStyle/>
          <a:p>
            <a:r>
              <a:rPr lang="en-US" dirty="0"/>
              <a:t>Content is organized for easy browsing and search.</a:t>
            </a:r>
          </a:p>
          <a:p>
            <a:endParaRPr lang="en-IN" dirty="0"/>
          </a:p>
        </p:txBody>
      </p:sp>
      <p:sp>
        <p:nvSpPr>
          <p:cNvPr id="18" name="TextBox 17">
            <a:extLst>
              <a:ext uri="{FF2B5EF4-FFF2-40B4-BE49-F238E27FC236}">
                <a16:creationId xmlns:a16="http://schemas.microsoft.com/office/drawing/2014/main" id="{D02D8C2E-D4DC-26C4-A82E-DF36EB04BA9A}"/>
              </a:ext>
            </a:extLst>
          </p:cNvPr>
          <p:cNvSpPr txBox="1"/>
          <p:nvPr/>
        </p:nvSpPr>
        <p:spPr>
          <a:xfrm>
            <a:off x="5335571" y="3370082"/>
            <a:ext cx="1943208" cy="1200329"/>
          </a:xfrm>
          <a:prstGeom prst="rect">
            <a:avLst/>
          </a:prstGeom>
          <a:noFill/>
        </p:spPr>
        <p:txBody>
          <a:bodyPr wrap="square" rtlCol="0">
            <a:spAutoFit/>
          </a:bodyPr>
          <a:lstStyle/>
          <a:p>
            <a:r>
              <a:rPr lang="en-US" dirty="0"/>
              <a:t>Customers explore, search, and select music.</a:t>
            </a:r>
          </a:p>
          <a:p>
            <a:endParaRPr lang="en-IN" dirty="0"/>
          </a:p>
        </p:txBody>
      </p:sp>
      <p:sp>
        <p:nvSpPr>
          <p:cNvPr id="19" name="TextBox 18">
            <a:extLst>
              <a:ext uri="{FF2B5EF4-FFF2-40B4-BE49-F238E27FC236}">
                <a16:creationId xmlns:a16="http://schemas.microsoft.com/office/drawing/2014/main" id="{E416C851-DD34-CAB3-F806-26092DBEC6F8}"/>
              </a:ext>
            </a:extLst>
          </p:cNvPr>
          <p:cNvSpPr txBox="1"/>
          <p:nvPr/>
        </p:nvSpPr>
        <p:spPr>
          <a:xfrm>
            <a:off x="7645424" y="3318980"/>
            <a:ext cx="2027477" cy="1477328"/>
          </a:xfrm>
          <a:prstGeom prst="rect">
            <a:avLst/>
          </a:prstGeom>
          <a:noFill/>
        </p:spPr>
        <p:txBody>
          <a:bodyPr wrap="square" rtlCol="0">
            <a:spAutoFit/>
          </a:bodyPr>
          <a:lstStyle/>
          <a:p>
            <a:r>
              <a:rPr lang="en-US" dirty="0"/>
              <a:t>Tracks are added, and invoices are generated during checkout.</a:t>
            </a:r>
          </a:p>
          <a:p>
            <a:endParaRPr lang="en-IN" dirty="0"/>
          </a:p>
        </p:txBody>
      </p:sp>
      <p:sp>
        <p:nvSpPr>
          <p:cNvPr id="20" name="TextBox 19">
            <a:extLst>
              <a:ext uri="{FF2B5EF4-FFF2-40B4-BE49-F238E27FC236}">
                <a16:creationId xmlns:a16="http://schemas.microsoft.com/office/drawing/2014/main" id="{9B779246-1115-60E2-D5FF-1B57499571CA}"/>
              </a:ext>
            </a:extLst>
          </p:cNvPr>
          <p:cNvSpPr txBox="1"/>
          <p:nvPr/>
        </p:nvSpPr>
        <p:spPr>
          <a:xfrm>
            <a:off x="10039546" y="3318980"/>
            <a:ext cx="1791093" cy="1754326"/>
          </a:xfrm>
          <a:prstGeom prst="rect">
            <a:avLst/>
          </a:prstGeom>
          <a:noFill/>
        </p:spPr>
        <p:txBody>
          <a:bodyPr wrap="square" rtlCol="0">
            <a:spAutoFit/>
          </a:bodyPr>
          <a:lstStyle/>
          <a:p>
            <a:r>
              <a:rPr lang="en-US" dirty="0"/>
              <a:t>Payments are processed and music is delivered digitally.</a:t>
            </a:r>
          </a:p>
          <a:p>
            <a:endParaRPr lang="en-IN" dirty="0"/>
          </a:p>
        </p:txBody>
      </p:sp>
      <p:cxnSp>
        <p:nvCxnSpPr>
          <p:cNvPr id="22" name="Straight Arrow Connector 21">
            <a:extLst>
              <a:ext uri="{FF2B5EF4-FFF2-40B4-BE49-F238E27FC236}">
                <a16:creationId xmlns:a16="http://schemas.microsoft.com/office/drawing/2014/main" id="{33DADED9-F546-6953-8871-4CAA94D50984}"/>
              </a:ext>
            </a:extLst>
          </p:cNvPr>
          <p:cNvCxnSpPr/>
          <p:nvPr/>
        </p:nvCxnSpPr>
        <p:spPr>
          <a:xfrm>
            <a:off x="2639506" y="1249473"/>
            <a:ext cx="0" cy="345556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a:extLst>
              <a:ext uri="{FF2B5EF4-FFF2-40B4-BE49-F238E27FC236}">
                <a16:creationId xmlns:a16="http://schemas.microsoft.com/office/drawing/2014/main" id="{F6CA787F-C72A-CF92-CC59-89984971A007}"/>
              </a:ext>
            </a:extLst>
          </p:cNvPr>
          <p:cNvCxnSpPr/>
          <p:nvPr/>
        </p:nvCxnSpPr>
        <p:spPr>
          <a:xfrm>
            <a:off x="5044912" y="1258114"/>
            <a:ext cx="0" cy="345556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id="{8EAF0E10-4EEE-11E2-E3DD-1492A5D04DEB}"/>
              </a:ext>
            </a:extLst>
          </p:cNvPr>
          <p:cNvCxnSpPr/>
          <p:nvPr/>
        </p:nvCxnSpPr>
        <p:spPr>
          <a:xfrm>
            <a:off x="7411040" y="1243179"/>
            <a:ext cx="0" cy="345556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A4470ABB-611A-2B98-670D-C6CFD079CDDA}"/>
              </a:ext>
            </a:extLst>
          </p:cNvPr>
          <p:cNvCxnSpPr/>
          <p:nvPr/>
        </p:nvCxnSpPr>
        <p:spPr>
          <a:xfrm>
            <a:off x="9788166" y="1269070"/>
            <a:ext cx="0" cy="345556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77032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3913C-B08E-FB4D-F831-12171D6E276E}"/>
              </a:ext>
            </a:extLst>
          </p:cNvPr>
          <p:cNvSpPr>
            <a:spLocks noGrp="1"/>
          </p:cNvSpPr>
          <p:nvPr>
            <p:ph type="title"/>
          </p:nvPr>
        </p:nvSpPr>
        <p:spPr>
          <a:xfrm>
            <a:off x="402996" y="263808"/>
            <a:ext cx="9603275" cy="1049235"/>
          </a:xfrm>
        </p:spPr>
        <p:txBody>
          <a:bodyPr>
            <a:normAutofit/>
          </a:bodyPr>
          <a:lstStyle/>
          <a:p>
            <a:r>
              <a:rPr lang="en" sz="3600" dirty="0"/>
              <a:t>Data Overivew</a:t>
            </a:r>
            <a:endParaRPr lang="en-IN" sz="3600" dirty="0"/>
          </a:p>
        </p:txBody>
      </p:sp>
      <p:sp>
        <p:nvSpPr>
          <p:cNvPr id="39" name="TextBox 38">
            <a:extLst>
              <a:ext uri="{FF2B5EF4-FFF2-40B4-BE49-F238E27FC236}">
                <a16:creationId xmlns:a16="http://schemas.microsoft.com/office/drawing/2014/main" id="{C382E731-4027-4F0A-C237-8A0B6D248C0F}"/>
              </a:ext>
            </a:extLst>
          </p:cNvPr>
          <p:cNvSpPr txBox="1"/>
          <p:nvPr/>
        </p:nvSpPr>
        <p:spPr>
          <a:xfrm>
            <a:off x="578572" y="1245696"/>
            <a:ext cx="2375555" cy="646331"/>
          </a:xfrm>
          <a:prstGeom prst="rect">
            <a:avLst/>
          </a:prstGeom>
          <a:noFill/>
        </p:spPr>
        <p:txBody>
          <a:bodyPr wrap="square" rtlCol="0">
            <a:spAutoFit/>
          </a:bodyPr>
          <a:lstStyle/>
          <a:p>
            <a:r>
              <a:rPr lang="en-IN" b="1" dirty="0"/>
              <a:t>Employee</a:t>
            </a:r>
          </a:p>
          <a:p>
            <a:endParaRPr lang="en-IN" b="1" dirty="0"/>
          </a:p>
        </p:txBody>
      </p:sp>
      <p:sp>
        <p:nvSpPr>
          <p:cNvPr id="41" name="TextBox 40">
            <a:extLst>
              <a:ext uri="{FF2B5EF4-FFF2-40B4-BE49-F238E27FC236}">
                <a16:creationId xmlns:a16="http://schemas.microsoft.com/office/drawing/2014/main" id="{0CE2E5AD-2664-E544-4E0E-CD960F7BD0A4}"/>
              </a:ext>
            </a:extLst>
          </p:cNvPr>
          <p:cNvSpPr txBox="1"/>
          <p:nvPr/>
        </p:nvSpPr>
        <p:spPr>
          <a:xfrm>
            <a:off x="556182" y="1607519"/>
            <a:ext cx="2528740" cy="2031325"/>
          </a:xfrm>
          <a:prstGeom prst="rect">
            <a:avLst/>
          </a:prstGeom>
          <a:noFill/>
        </p:spPr>
        <p:txBody>
          <a:bodyPr wrap="square">
            <a:spAutoFit/>
          </a:bodyPr>
          <a:lstStyle/>
          <a:p>
            <a:pPr marL="0" lvl="0" indent="0" algn="l" rtl="0">
              <a:spcBef>
                <a:spcPts val="0"/>
              </a:spcBef>
              <a:spcAft>
                <a:spcPts val="0"/>
              </a:spcAft>
              <a:buNone/>
            </a:pPr>
            <a:r>
              <a:rPr lang="en-US" dirty="0" err="1"/>
              <a:t>Employee_Id</a:t>
            </a:r>
            <a:r>
              <a:rPr lang="en-US" dirty="0"/>
              <a:t>, LastName, FirstName, Title, </a:t>
            </a:r>
            <a:r>
              <a:rPr lang="en-US" dirty="0" err="1"/>
              <a:t>ReportsTo</a:t>
            </a:r>
            <a:r>
              <a:rPr lang="en-US" dirty="0"/>
              <a:t>, </a:t>
            </a:r>
            <a:r>
              <a:rPr lang="en-US" dirty="0" err="1"/>
              <a:t>BirthDate</a:t>
            </a:r>
            <a:r>
              <a:rPr lang="en-US" dirty="0"/>
              <a:t>, </a:t>
            </a:r>
            <a:r>
              <a:rPr lang="en-US" dirty="0" err="1"/>
              <a:t>HireDate</a:t>
            </a:r>
            <a:r>
              <a:rPr lang="en-US" dirty="0"/>
              <a:t>, Address, City, State, Country, </a:t>
            </a:r>
            <a:r>
              <a:rPr lang="en-US" dirty="0" err="1"/>
              <a:t>PostalCode</a:t>
            </a:r>
            <a:r>
              <a:rPr lang="en-US" dirty="0"/>
              <a:t>, Phone, Fax, Email</a:t>
            </a:r>
          </a:p>
        </p:txBody>
      </p:sp>
      <p:sp>
        <p:nvSpPr>
          <p:cNvPr id="45" name="TextBox 44">
            <a:extLst>
              <a:ext uri="{FF2B5EF4-FFF2-40B4-BE49-F238E27FC236}">
                <a16:creationId xmlns:a16="http://schemas.microsoft.com/office/drawing/2014/main" id="{9F9A3431-88A1-88DD-1C32-BA0815D40953}"/>
              </a:ext>
            </a:extLst>
          </p:cNvPr>
          <p:cNvSpPr txBox="1"/>
          <p:nvPr/>
        </p:nvSpPr>
        <p:spPr>
          <a:xfrm>
            <a:off x="3160340" y="1229498"/>
            <a:ext cx="1300899" cy="369332"/>
          </a:xfrm>
          <a:prstGeom prst="rect">
            <a:avLst/>
          </a:prstGeom>
          <a:noFill/>
        </p:spPr>
        <p:txBody>
          <a:bodyPr wrap="square">
            <a:spAutoFit/>
          </a:bodyPr>
          <a:lstStyle/>
          <a:p>
            <a:pPr marL="0" lvl="0" indent="0" algn="l" rtl="0">
              <a:spcBef>
                <a:spcPts val="0"/>
              </a:spcBef>
              <a:spcAft>
                <a:spcPts val="0"/>
              </a:spcAft>
              <a:buNone/>
            </a:pPr>
            <a:r>
              <a:rPr lang="en-IN" b="1" dirty="0"/>
              <a:t>Customer</a:t>
            </a:r>
          </a:p>
        </p:txBody>
      </p:sp>
      <p:sp>
        <p:nvSpPr>
          <p:cNvPr id="47" name="TextBox 46">
            <a:extLst>
              <a:ext uri="{FF2B5EF4-FFF2-40B4-BE49-F238E27FC236}">
                <a16:creationId xmlns:a16="http://schemas.microsoft.com/office/drawing/2014/main" id="{60593440-BA46-9E85-4723-04D76E6E19EF}"/>
              </a:ext>
            </a:extLst>
          </p:cNvPr>
          <p:cNvSpPr txBox="1"/>
          <p:nvPr/>
        </p:nvSpPr>
        <p:spPr>
          <a:xfrm>
            <a:off x="3101421" y="1568862"/>
            <a:ext cx="2307211" cy="2031325"/>
          </a:xfrm>
          <a:prstGeom prst="rect">
            <a:avLst/>
          </a:prstGeom>
          <a:noFill/>
        </p:spPr>
        <p:txBody>
          <a:bodyPr wrap="square">
            <a:spAutoFit/>
          </a:bodyPr>
          <a:lstStyle/>
          <a:p>
            <a:pPr marL="0" lvl="0" indent="0" algn="l" rtl="0">
              <a:lnSpc>
                <a:spcPct val="100000"/>
              </a:lnSpc>
              <a:spcBef>
                <a:spcPts val="0"/>
              </a:spcBef>
              <a:spcAft>
                <a:spcPts val="0"/>
              </a:spcAft>
              <a:buClr>
                <a:schemeClr val="dk1"/>
              </a:buClr>
              <a:buSzPts val="1100"/>
              <a:buNone/>
            </a:pPr>
            <a:r>
              <a:rPr lang="en-US" dirty="0"/>
              <a:t>CustomerId, FirstName, LastName, Company, Address, City, State, Country, </a:t>
            </a:r>
            <a:r>
              <a:rPr lang="en-US" dirty="0" err="1"/>
              <a:t>PostalCode</a:t>
            </a:r>
            <a:r>
              <a:rPr lang="en-US" dirty="0"/>
              <a:t>, Phone, Fax, Email, </a:t>
            </a:r>
            <a:r>
              <a:rPr lang="en-US" dirty="0" err="1"/>
              <a:t>SupportRepId</a:t>
            </a:r>
            <a:endParaRPr lang="en-US" dirty="0"/>
          </a:p>
        </p:txBody>
      </p:sp>
      <p:cxnSp>
        <p:nvCxnSpPr>
          <p:cNvPr id="49" name="Straight Connector 48">
            <a:extLst>
              <a:ext uri="{FF2B5EF4-FFF2-40B4-BE49-F238E27FC236}">
                <a16:creationId xmlns:a16="http://schemas.microsoft.com/office/drawing/2014/main" id="{D7A7F43C-FC9F-6072-7E7A-23F79D53C8E3}"/>
              </a:ext>
            </a:extLst>
          </p:cNvPr>
          <p:cNvCxnSpPr/>
          <p:nvPr/>
        </p:nvCxnSpPr>
        <p:spPr>
          <a:xfrm>
            <a:off x="3016578" y="1272717"/>
            <a:ext cx="0" cy="2366127"/>
          </a:xfrm>
          <a:prstGeom prst="line">
            <a:avLst/>
          </a:prstGeom>
        </p:spPr>
        <p:style>
          <a:lnRef idx="3">
            <a:schemeClr val="dk1"/>
          </a:lnRef>
          <a:fillRef idx="0">
            <a:schemeClr val="dk1"/>
          </a:fillRef>
          <a:effectRef idx="2">
            <a:schemeClr val="dk1"/>
          </a:effectRef>
          <a:fontRef idx="minor">
            <a:schemeClr val="tx1"/>
          </a:fontRef>
        </p:style>
      </p:cxnSp>
      <p:cxnSp>
        <p:nvCxnSpPr>
          <p:cNvPr id="50" name="Straight Connector 49">
            <a:extLst>
              <a:ext uri="{FF2B5EF4-FFF2-40B4-BE49-F238E27FC236}">
                <a16:creationId xmlns:a16="http://schemas.microsoft.com/office/drawing/2014/main" id="{9CFB7DCD-D126-96C5-064E-705C41D20FE0}"/>
              </a:ext>
            </a:extLst>
          </p:cNvPr>
          <p:cNvCxnSpPr/>
          <p:nvPr/>
        </p:nvCxnSpPr>
        <p:spPr>
          <a:xfrm>
            <a:off x="5327716" y="1234060"/>
            <a:ext cx="0" cy="2366127"/>
          </a:xfrm>
          <a:prstGeom prst="line">
            <a:avLst/>
          </a:prstGeom>
        </p:spPr>
        <p:style>
          <a:lnRef idx="3">
            <a:schemeClr val="dk1"/>
          </a:lnRef>
          <a:fillRef idx="0">
            <a:schemeClr val="dk1"/>
          </a:fillRef>
          <a:effectRef idx="2">
            <a:schemeClr val="dk1"/>
          </a:effectRef>
          <a:fontRef idx="minor">
            <a:schemeClr val="tx1"/>
          </a:fontRef>
        </p:style>
      </p:cxnSp>
      <p:sp>
        <p:nvSpPr>
          <p:cNvPr id="52" name="TextBox 51">
            <a:extLst>
              <a:ext uri="{FF2B5EF4-FFF2-40B4-BE49-F238E27FC236}">
                <a16:creationId xmlns:a16="http://schemas.microsoft.com/office/drawing/2014/main" id="{92C910C1-6A68-0034-8A82-7DCB1604346B}"/>
              </a:ext>
            </a:extLst>
          </p:cNvPr>
          <p:cNvSpPr txBox="1"/>
          <p:nvPr/>
        </p:nvSpPr>
        <p:spPr>
          <a:xfrm>
            <a:off x="5483655" y="1229498"/>
            <a:ext cx="1019661" cy="369332"/>
          </a:xfrm>
          <a:prstGeom prst="rect">
            <a:avLst/>
          </a:prstGeom>
          <a:noFill/>
        </p:spPr>
        <p:txBody>
          <a:bodyPr wrap="square">
            <a:spAutoFit/>
          </a:bodyPr>
          <a:lstStyle/>
          <a:p>
            <a:pPr marL="0" lvl="0" indent="0" algn="l" rtl="0">
              <a:spcBef>
                <a:spcPts val="0"/>
              </a:spcBef>
              <a:spcAft>
                <a:spcPts val="0"/>
              </a:spcAft>
              <a:buNone/>
            </a:pPr>
            <a:r>
              <a:rPr lang="en-IN" b="1" dirty="0"/>
              <a:t>Invoice</a:t>
            </a:r>
          </a:p>
        </p:txBody>
      </p:sp>
      <p:sp>
        <p:nvSpPr>
          <p:cNvPr id="54" name="TextBox 53">
            <a:extLst>
              <a:ext uri="{FF2B5EF4-FFF2-40B4-BE49-F238E27FC236}">
                <a16:creationId xmlns:a16="http://schemas.microsoft.com/office/drawing/2014/main" id="{6CF6EBF3-C887-074B-5903-3F601B5F18FF}"/>
              </a:ext>
            </a:extLst>
          </p:cNvPr>
          <p:cNvSpPr txBox="1"/>
          <p:nvPr/>
        </p:nvSpPr>
        <p:spPr>
          <a:xfrm>
            <a:off x="5398022" y="1598830"/>
            <a:ext cx="2307211" cy="1754326"/>
          </a:xfrm>
          <a:prstGeom prst="rect">
            <a:avLst/>
          </a:prstGeom>
          <a:noFill/>
        </p:spPr>
        <p:txBody>
          <a:bodyPr wrap="square">
            <a:spAutoFit/>
          </a:bodyPr>
          <a:lstStyle/>
          <a:p>
            <a:pPr marL="0" lvl="0" indent="0" algn="l" rtl="0">
              <a:lnSpc>
                <a:spcPct val="100000"/>
              </a:lnSpc>
              <a:spcBef>
                <a:spcPts val="0"/>
              </a:spcBef>
              <a:spcAft>
                <a:spcPts val="0"/>
              </a:spcAft>
              <a:buClr>
                <a:schemeClr val="dk1"/>
              </a:buClr>
              <a:buSzPts val="1100"/>
              <a:buNone/>
            </a:pPr>
            <a:r>
              <a:rPr lang="en-US" dirty="0" err="1"/>
              <a:t>InvoiceId</a:t>
            </a:r>
            <a:r>
              <a:rPr lang="en-US" dirty="0"/>
              <a:t>, CustomerId, </a:t>
            </a:r>
            <a:r>
              <a:rPr lang="en-US" dirty="0" err="1"/>
              <a:t>InvoiceDate</a:t>
            </a:r>
            <a:r>
              <a:rPr lang="en-US" dirty="0"/>
              <a:t>, </a:t>
            </a:r>
            <a:r>
              <a:rPr lang="en-US" dirty="0" err="1"/>
              <a:t>BillingAddress</a:t>
            </a:r>
            <a:r>
              <a:rPr lang="en-US" dirty="0"/>
              <a:t>, </a:t>
            </a:r>
            <a:r>
              <a:rPr lang="en-US" dirty="0" err="1"/>
              <a:t>BillingCity</a:t>
            </a:r>
            <a:r>
              <a:rPr lang="en-US" dirty="0"/>
              <a:t>, </a:t>
            </a:r>
            <a:r>
              <a:rPr lang="en-US" dirty="0" err="1"/>
              <a:t>BillingState</a:t>
            </a:r>
            <a:r>
              <a:rPr lang="en-US" dirty="0"/>
              <a:t>, </a:t>
            </a:r>
            <a:r>
              <a:rPr lang="en-US" dirty="0" err="1"/>
              <a:t>BillingCountry</a:t>
            </a:r>
            <a:r>
              <a:rPr lang="en-US" dirty="0"/>
              <a:t>, </a:t>
            </a:r>
            <a:r>
              <a:rPr lang="en-US" dirty="0" err="1"/>
              <a:t>BillingPostalCode</a:t>
            </a:r>
            <a:r>
              <a:rPr lang="en-US" dirty="0"/>
              <a:t>, Total</a:t>
            </a:r>
          </a:p>
        </p:txBody>
      </p:sp>
      <p:sp>
        <p:nvSpPr>
          <p:cNvPr id="56" name="TextBox 55">
            <a:extLst>
              <a:ext uri="{FF2B5EF4-FFF2-40B4-BE49-F238E27FC236}">
                <a16:creationId xmlns:a16="http://schemas.microsoft.com/office/drawing/2014/main" id="{4E2307DE-223F-3178-221B-B13B4BB85726}"/>
              </a:ext>
            </a:extLst>
          </p:cNvPr>
          <p:cNvSpPr txBox="1"/>
          <p:nvPr/>
        </p:nvSpPr>
        <p:spPr>
          <a:xfrm>
            <a:off x="7971150" y="1284711"/>
            <a:ext cx="1455647" cy="369332"/>
          </a:xfrm>
          <a:prstGeom prst="rect">
            <a:avLst/>
          </a:prstGeom>
          <a:noFill/>
        </p:spPr>
        <p:txBody>
          <a:bodyPr wrap="square">
            <a:spAutoFit/>
          </a:bodyPr>
          <a:lstStyle/>
          <a:p>
            <a:pPr marL="0" lvl="0" indent="0" algn="l" rtl="0">
              <a:spcBef>
                <a:spcPts val="0"/>
              </a:spcBef>
              <a:spcAft>
                <a:spcPts val="0"/>
              </a:spcAft>
              <a:buNone/>
            </a:pPr>
            <a:r>
              <a:rPr lang="en-IN" b="1" dirty="0"/>
              <a:t>Media Type</a:t>
            </a:r>
          </a:p>
        </p:txBody>
      </p:sp>
      <p:cxnSp>
        <p:nvCxnSpPr>
          <p:cNvPr id="57" name="Straight Connector 56">
            <a:extLst>
              <a:ext uri="{FF2B5EF4-FFF2-40B4-BE49-F238E27FC236}">
                <a16:creationId xmlns:a16="http://schemas.microsoft.com/office/drawing/2014/main" id="{349E76C5-851D-A4C1-F9C2-0CA08278E3FD}"/>
              </a:ext>
            </a:extLst>
          </p:cNvPr>
          <p:cNvCxnSpPr/>
          <p:nvPr/>
        </p:nvCxnSpPr>
        <p:spPr>
          <a:xfrm>
            <a:off x="7780256" y="1292929"/>
            <a:ext cx="0" cy="2366127"/>
          </a:xfrm>
          <a:prstGeom prst="line">
            <a:avLst/>
          </a:prstGeom>
        </p:spPr>
        <p:style>
          <a:lnRef idx="3">
            <a:schemeClr val="dk1"/>
          </a:lnRef>
          <a:fillRef idx="0">
            <a:schemeClr val="dk1"/>
          </a:fillRef>
          <a:effectRef idx="2">
            <a:schemeClr val="dk1"/>
          </a:effectRef>
          <a:fontRef idx="minor">
            <a:schemeClr val="tx1"/>
          </a:fontRef>
        </p:style>
      </p:cxnSp>
      <p:sp>
        <p:nvSpPr>
          <p:cNvPr id="59" name="TextBox 58">
            <a:extLst>
              <a:ext uri="{FF2B5EF4-FFF2-40B4-BE49-F238E27FC236}">
                <a16:creationId xmlns:a16="http://schemas.microsoft.com/office/drawing/2014/main" id="{3B161974-666F-04A1-1B22-0F2B69800415}"/>
              </a:ext>
            </a:extLst>
          </p:cNvPr>
          <p:cNvSpPr txBox="1"/>
          <p:nvPr/>
        </p:nvSpPr>
        <p:spPr>
          <a:xfrm>
            <a:off x="7971150" y="1598830"/>
            <a:ext cx="1925425" cy="646331"/>
          </a:xfrm>
          <a:prstGeom prst="rect">
            <a:avLst/>
          </a:prstGeom>
          <a:noFill/>
        </p:spPr>
        <p:txBody>
          <a:bodyPr wrap="square">
            <a:spAutoFit/>
          </a:bodyPr>
          <a:lstStyle/>
          <a:p>
            <a:pPr marL="0" lvl="0" indent="0" algn="l" rtl="0">
              <a:lnSpc>
                <a:spcPct val="100000"/>
              </a:lnSpc>
              <a:spcBef>
                <a:spcPts val="0"/>
              </a:spcBef>
              <a:spcAft>
                <a:spcPts val="0"/>
              </a:spcAft>
              <a:buClr>
                <a:schemeClr val="dk1"/>
              </a:buClr>
              <a:buSzPts val="1100"/>
              <a:buNone/>
            </a:pPr>
            <a:r>
              <a:rPr lang="en-IN" dirty="0" err="1"/>
              <a:t>MediaTypeId</a:t>
            </a:r>
            <a:r>
              <a:rPr lang="en-IN" dirty="0"/>
              <a:t>, Name</a:t>
            </a:r>
          </a:p>
        </p:txBody>
      </p:sp>
      <p:sp>
        <p:nvSpPr>
          <p:cNvPr id="61" name="TextBox 60">
            <a:extLst>
              <a:ext uri="{FF2B5EF4-FFF2-40B4-BE49-F238E27FC236}">
                <a16:creationId xmlns:a16="http://schemas.microsoft.com/office/drawing/2014/main" id="{9AD71F11-31DC-B7BE-C4A8-B4CDBF7084F1}"/>
              </a:ext>
            </a:extLst>
          </p:cNvPr>
          <p:cNvSpPr txBox="1"/>
          <p:nvPr/>
        </p:nvSpPr>
        <p:spPr>
          <a:xfrm>
            <a:off x="7971150" y="2232457"/>
            <a:ext cx="1011023" cy="369332"/>
          </a:xfrm>
          <a:prstGeom prst="rect">
            <a:avLst/>
          </a:prstGeom>
          <a:noFill/>
        </p:spPr>
        <p:txBody>
          <a:bodyPr wrap="square">
            <a:spAutoFit/>
          </a:bodyPr>
          <a:lstStyle/>
          <a:p>
            <a:pPr marL="0" lvl="0" indent="0" algn="l" rtl="0">
              <a:spcBef>
                <a:spcPts val="0"/>
              </a:spcBef>
              <a:spcAft>
                <a:spcPts val="0"/>
              </a:spcAft>
              <a:buNone/>
            </a:pPr>
            <a:r>
              <a:rPr lang="en-IN" b="1" dirty="0"/>
              <a:t>Album</a:t>
            </a:r>
          </a:p>
        </p:txBody>
      </p:sp>
      <p:sp>
        <p:nvSpPr>
          <p:cNvPr id="63" name="TextBox 62">
            <a:extLst>
              <a:ext uri="{FF2B5EF4-FFF2-40B4-BE49-F238E27FC236}">
                <a16:creationId xmlns:a16="http://schemas.microsoft.com/office/drawing/2014/main" id="{ACE37A39-AD30-89DA-8E91-618429570B70}"/>
              </a:ext>
            </a:extLst>
          </p:cNvPr>
          <p:cNvSpPr txBox="1"/>
          <p:nvPr/>
        </p:nvSpPr>
        <p:spPr>
          <a:xfrm>
            <a:off x="7971150" y="2601789"/>
            <a:ext cx="1656505" cy="646331"/>
          </a:xfrm>
          <a:prstGeom prst="rect">
            <a:avLst/>
          </a:prstGeom>
          <a:noFill/>
        </p:spPr>
        <p:txBody>
          <a:bodyPr wrap="square">
            <a:spAutoFit/>
          </a:bodyPr>
          <a:lstStyle/>
          <a:p>
            <a:pPr marL="0" lvl="0" indent="0" algn="l" rtl="0">
              <a:lnSpc>
                <a:spcPct val="100000"/>
              </a:lnSpc>
              <a:spcBef>
                <a:spcPts val="0"/>
              </a:spcBef>
              <a:spcAft>
                <a:spcPts val="0"/>
              </a:spcAft>
              <a:buClr>
                <a:schemeClr val="dk1"/>
              </a:buClr>
              <a:buSzPts val="1100"/>
              <a:buNone/>
            </a:pPr>
            <a:r>
              <a:rPr lang="en-IN" dirty="0" err="1"/>
              <a:t>AlbumId</a:t>
            </a:r>
            <a:r>
              <a:rPr lang="en-IN" dirty="0"/>
              <a:t>, Title, </a:t>
            </a:r>
            <a:r>
              <a:rPr lang="en-IN" dirty="0" err="1"/>
              <a:t>ArtistId</a:t>
            </a:r>
            <a:endParaRPr lang="en-IN" dirty="0"/>
          </a:p>
        </p:txBody>
      </p:sp>
      <p:cxnSp>
        <p:nvCxnSpPr>
          <p:cNvPr id="64" name="Straight Connector 63">
            <a:extLst>
              <a:ext uri="{FF2B5EF4-FFF2-40B4-BE49-F238E27FC236}">
                <a16:creationId xmlns:a16="http://schemas.microsoft.com/office/drawing/2014/main" id="{2B6E00AE-A60D-BD0E-0E88-BD2FB0948A8C}"/>
              </a:ext>
            </a:extLst>
          </p:cNvPr>
          <p:cNvCxnSpPr/>
          <p:nvPr/>
        </p:nvCxnSpPr>
        <p:spPr>
          <a:xfrm>
            <a:off x="9525786" y="1284711"/>
            <a:ext cx="0" cy="2366127"/>
          </a:xfrm>
          <a:prstGeom prst="line">
            <a:avLst/>
          </a:prstGeom>
        </p:spPr>
        <p:style>
          <a:lnRef idx="3">
            <a:schemeClr val="dk1"/>
          </a:lnRef>
          <a:fillRef idx="0">
            <a:schemeClr val="dk1"/>
          </a:fillRef>
          <a:effectRef idx="2">
            <a:schemeClr val="dk1"/>
          </a:effectRef>
          <a:fontRef idx="minor">
            <a:schemeClr val="tx1"/>
          </a:fontRef>
        </p:style>
      </p:cxnSp>
      <p:sp>
        <p:nvSpPr>
          <p:cNvPr id="66" name="TextBox 65">
            <a:extLst>
              <a:ext uri="{FF2B5EF4-FFF2-40B4-BE49-F238E27FC236}">
                <a16:creationId xmlns:a16="http://schemas.microsoft.com/office/drawing/2014/main" id="{AAFB8AD7-EAD0-961F-01AE-A6805DF31DE9}"/>
              </a:ext>
            </a:extLst>
          </p:cNvPr>
          <p:cNvSpPr txBox="1"/>
          <p:nvPr/>
        </p:nvSpPr>
        <p:spPr>
          <a:xfrm>
            <a:off x="9763807" y="1262340"/>
            <a:ext cx="1108941" cy="369332"/>
          </a:xfrm>
          <a:prstGeom prst="rect">
            <a:avLst/>
          </a:prstGeom>
          <a:noFill/>
        </p:spPr>
        <p:txBody>
          <a:bodyPr wrap="square">
            <a:spAutoFit/>
          </a:bodyPr>
          <a:lstStyle/>
          <a:p>
            <a:pPr marL="0" lvl="0" indent="0" algn="l" rtl="0">
              <a:spcBef>
                <a:spcPts val="0"/>
              </a:spcBef>
              <a:spcAft>
                <a:spcPts val="0"/>
              </a:spcAft>
              <a:buNone/>
            </a:pPr>
            <a:r>
              <a:rPr lang="en-IN" b="1" dirty="0"/>
              <a:t>Track</a:t>
            </a:r>
          </a:p>
        </p:txBody>
      </p:sp>
      <p:sp>
        <p:nvSpPr>
          <p:cNvPr id="68" name="TextBox 67">
            <a:extLst>
              <a:ext uri="{FF2B5EF4-FFF2-40B4-BE49-F238E27FC236}">
                <a16:creationId xmlns:a16="http://schemas.microsoft.com/office/drawing/2014/main" id="{5BFB0841-C2B7-D312-12A2-30C61FBE85E4}"/>
              </a:ext>
            </a:extLst>
          </p:cNvPr>
          <p:cNvSpPr txBox="1"/>
          <p:nvPr/>
        </p:nvSpPr>
        <p:spPr>
          <a:xfrm>
            <a:off x="9752029" y="1631672"/>
            <a:ext cx="2084895" cy="1754326"/>
          </a:xfrm>
          <a:prstGeom prst="rect">
            <a:avLst/>
          </a:prstGeom>
          <a:noFill/>
        </p:spPr>
        <p:txBody>
          <a:bodyPr wrap="square">
            <a:spAutoFit/>
          </a:bodyPr>
          <a:lstStyle/>
          <a:p>
            <a:pPr marL="0" lvl="0" indent="0" algn="l" rtl="0">
              <a:lnSpc>
                <a:spcPct val="100000"/>
              </a:lnSpc>
              <a:spcBef>
                <a:spcPts val="0"/>
              </a:spcBef>
              <a:spcAft>
                <a:spcPts val="0"/>
              </a:spcAft>
              <a:buClr>
                <a:schemeClr val="dk1"/>
              </a:buClr>
              <a:buSzPts val="1100"/>
              <a:buNone/>
            </a:pPr>
            <a:r>
              <a:rPr lang="en-IN" dirty="0" err="1"/>
              <a:t>TrackId</a:t>
            </a:r>
            <a:r>
              <a:rPr lang="en-IN" dirty="0"/>
              <a:t>, Name, </a:t>
            </a:r>
            <a:r>
              <a:rPr lang="en-IN" dirty="0" err="1"/>
              <a:t>AlbumId</a:t>
            </a:r>
            <a:r>
              <a:rPr lang="en-IN" dirty="0"/>
              <a:t>, </a:t>
            </a:r>
            <a:r>
              <a:rPr lang="en-IN" dirty="0" err="1"/>
              <a:t>MediaTypeId</a:t>
            </a:r>
            <a:r>
              <a:rPr lang="en-IN" dirty="0"/>
              <a:t>, </a:t>
            </a:r>
            <a:r>
              <a:rPr lang="en-IN" dirty="0" err="1"/>
              <a:t>GenreId</a:t>
            </a:r>
            <a:r>
              <a:rPr lang="en-IN" dirty="0"/>
              <a:t>, Composer, Milliseconds, Bytes, </a:t>
            </a:r>
            <a:r>
              <a:rPr lang="en-IN" dirty="0" err="1"/>
              <a:t>UnitPrice</a:t>
            </a:r>
            <a:endParaRPr lang="en-IN" dirty="0"/>
          </a:p>
        </p:txBody>
      </p:sp>
      <p:sp>
        <p:nvSpPr>
          <p:cNvPr id="70" name="TextBox 69">
            <a:extLst>
              <a:ext uri="{FF2B5EF4-FFF2-40B4-BE49-F238E27FC236}">
                <a16:creationId xmlns:a16="http://schemas.microsoft.com/office/drawing/2014/main" id="{E3CAC2F7-181D-444A-7F4C-EFEDDBDF163E}"/>
              </a:ext>
            </a:extLst>
          </p:cNvPr>
          <p:cNvSpPr txBox="1"/>
          <p:nvPr/>
        </p:nvSpPr>
        <p:spPr>
          <a:xfrm>
            <a:off x="556182" y="3864147"/>
            <a:ext cx="2037768" cy="369332"/>
          </a:xfrm>
          <a:prstGeom prst="rect">
            <a:avLst/>
          </a:prstGeom>
          <a:noFill/>
        </p:spPr>
        <p:txBody>
          <a:bodyPr wrap="square">
            <a:spAutoFit/>
          </a:bodyPr>
          <a:lstStyle/>
          <a:p>
            <a:pPr marL="0" lvl="0" indent="0" algn="l" rtl="0">
              <a:spcBef>
                <a:spcPts val="0"/>
              </a:spcBef>
              <a:spcAft>
                <a:spcPts val="0"/>
              </a:spcAft>
              <a:buNone/>
            </a:pPr>
            <a:r>
              <a:rPr lang="en-IN" b="1" dirty="0"/>
              <a:t>Invoice Line</a:t>
            </a:r>
          </a:p>
        </p:txBody>
      </p:sp>
      <p:sp>
        <p:nvSpPr>
          <p:cNvPr id="72" name="TextBox 71">
            <a:extLst>
              <a:ext uri="{FF2B5EF4-FFF2-40B4-BE49-F238E27FC236}">
                <a16:creationId xmlns:a16="http://schemas.microsoft.com/office/drawing/2014/main" id="{77E5E5FA-8639-C1AC-0930-9015B27AA8E8}"/>
              </a:ext>
            </a:extLst>
          </p:cNvPr>
          <p:cNvSpPr txBox="1"/>
          <p:nvPr/>
        </p:nvSpPr>
        <p:spPr>
          <a:xfrm>
            <a:off x="556181" y="4290884"/>
            <a:ext cx="2177591" cy="923330"/>
          </a:xfrm>
          <a:prstGeom prst="rect">
            <a:avLst/>
          </a:prstGeom>
          <a:noFill/>
        </p:spPr>
        <p:txBody>
          <a:bodyPr wrap="square">
            <a:spAutoFit/>
          </a:bodyPr>
          <a:lstStyle/>
          <a:p>
            <a:pPr marL="0" marR="0" lvl="0" indent="0" algn="l" rtl="0">
              <a:lnSpc>
                <a:spcPct val="100000"/>
              </a:lnSpc>
              <a:spcBef>
                <a:spcPts val="0"/>
              </a:spcBef>
              <a:spcAft>
                <a:spcPts val="0"/>
              </a:spcAft>
              <a:buClr>
                <a:schemeClr val="dk1"/>
              </a:buClr>
              <a:buSzPts val="1100"/>
              <a:buFont typeface="Arial"/>
              <a:buNone/>
            </a:pPr>
            <a:r>
              <a:rPr lang="en-US" dirty="0" err="1"/>
              <a:t>InvoiceLineId</a:t>
            </a:r>
            <a:r>
              <a:rPr lang="en-US" dirty="0"/>
              <a:t>, </a:t>
            </a:r>
            <a:r>
              <a:rPr lang="en-US" dirty="0" err="1"/>
              <a:t>InvoiceId</a:t>
            </a:r>
            <a:r>
              <a:rPr lang="en-US" dirty="0"/>
              <a:t>, </a:t>
            </a:r>
            <a:r>
              <a:rPr lang="en-US" dirty="0" err="1"/>
              <a:t>TrackId</a:t>
            </a:r>
            <a:r>
              <a:rPr lang="en-US" dirty="0"/>
              <a:t>, </a:t>
            </a:r>
            <a:r>
              <a:rPr lang="en-US" dirty="0" err="1"/>
              <a:t>UnitPrice</a:t>
            </a:r>
            <a:r>
              <a:rPr lang="en-US" dirty="0"/>
              <a:t>, Quantity</a:t>
            </a:r>
          </a:p>
        </p:txBody>
      </p:sp>
      <p:cxnSp>
        <p:nvCxnSpPr>
          <p:cNvPr id="73" name="Straight Connector 72">
            <a:extLst>
              <a:ext uri="{FF2B5EF4-FFF2-40B4-BE49-F238E27FC236}">
                <a16:creationId xmlns:a16="http://schemas.microsoft.com/office/drawing/2014/main" id="{305C9134-59EE-A165-67EB-F78985807145}"/>
              </a:ext>
            </a:extLst>
          </p:cNvPr>
          <p:cNvCxnSpPr>
            <a:cxnSpLocks/>
          </p:cNvCxnSpPr>
          <p:nvPr/>
        </p:nvCxnSpPr>
        <p:spPr>
          <a:xfrm>
            <a:off x="2593950" y="3864147"/>
            <a:ext cx="0" cy="1465858"/>
          </a:xfrm>
          <a:prstGeom prst="line">
            <a:avLst/>
          </a:prstGeom>
        </p:spPr>
        <p:style>
          <a:lnRef idx="3">
            <a:schemeClr val="dk1"/>
          </a:lnRef>
          <a:fillRef idx="0">
            <a:schemeClr val="dk1"/>
          </a:fillRef>
          <a:effectRef idx="2">
            <a:schemeClr val="dk1"/>
          </a:effectRef>
          <a:fontRef idx="minor">
            <a:schemeClr val="tx1"/>
          </a:fontRef>
        </p:style>
      </p:cxnSp>
      <p:sp>
        <p:nvSpPr>
          <p:cNvPr id="77" name="TextBox 76">
            <a:extLst>
              <a:ext uri="{FF2B5EF4-FFF2-40B4-BE49-F238E27FC236}">
                <a16:creationId xmlns:a16="http://schemas.microsoft.com/office/drawing/2014/main" id="{531DEC30-92F3-3EE7-E8BE-1CFB36AD31AB}"/>
              </a:ext>
            </a:extLst>
          </p:cNvPr>
          <p:cNvSpPr txBox="1"/>
          <p:nvPr/>
        </p:nvSpPr>
        <p:spPr>
          <a:xfrm>
            <a:off x="2733772" y="3892419"/>
            <a:ext cx="1778523" cy="369332"/>
          </a:xfrm>
          <a:prstGeom prst="rect">
            <a:avLst/>
          </a:prstGeom>
          <a:noFill/>
        </p:spPr>
        <p:txBody>
          <a:bodyPr wrap="square">
            <a:spAutoFit/>
          </a:bodyPr>
          <a:lstStyle/>
          <a:p>
            <a:pPr marL="0" lvl="0" indent="0" algn="l" rtl="0">
              <a:spcBef>
                <a:spcPts val="0"/>
              </a:spcBef>
              <a:spcAft>
                <a:spcPts val="0"/>
              </a:spcAft>
              <a:buNone/>
            </a:pPr>
            <a:r>
              <a:rPr lang="en-IN" b="1" dirty="0"/>
              <a:t>Album</a:t>
            </a:r>
          </a:p>
        </p:txBody>
      </p:sp>
      <p:sp>
        <p:nvSpPr>
          <p:cNvPr id="79" name="TextBox 78">
            <a:extLst>
              <a:ext uri="{FF2B5EF4-FFF2-40B4-BE49-F238E27FC236}">
                <a16:creationId xmlns:a16="http://schemas.microsoft.com/office/drawing/2014/main" id="{E1FA1D0A-1756-E875-6A99-C28D06CDA57D}"/>
              </a:ext>
            </a:extLst>
          </p:cNvPr>
          <p:cNvSpPr txBox="1"/>
          <p:nvPr/>
        </p:nvSpPr>
        <p:spPr>
          <a:xfrm>
            <a:off x="2695548" y="4308157"/>
            <a:ext cx="1697343" cy="646331"/>
          </a:xfrm>
          <a:prstGeom prst="rect">
            <a:avLst/>
          </a:prstGeom>
          <a:noFill/>
        </p:spPr>
        <p:txBody>
          <a:bodyPr wrap="square">
            <a:spAutoFit/>
          </a:bodyPr>
          <a:lstStyle/>
          <a:p>
            <a:pPr marL="0" lvl="0" indent="0" algn="l" rtl="0">
              <a:lnSpc>
                <a:spcPct val="100000"/>
              </a:lnSpc>
              <a:spcBef>
                <a:spcPts val="0"/>
              </a:spcBef>
              <a:spcAft>
                <a:spcPts val="0"/>
              </a:spcAft>
              <a:buClr>
                <a:schemeClr val="dk1"/>
              </a:buClr>
              <a:buSzPts val="1100"/>
              <a:buNone/>
            </a:pPr>
            <a:r>
              <a:rPr lang="en-IN" dirty="0" err="1"/>
              <a:t>AlbumId</a:t>
            </a:r>
            <a:r>
              <a:rPr lang="en-IN" dirty="0"/>
              <a:t>, Title, </a:t>
            </a:r>
            <a:r>
              <a:rPr lang="en-IN" dirty="0" err="1"/>
              <a:t>ArtistId</a:t>
            </a:r>
            <a:endParaRPr lang="en-IN" dirty="0"/>
          </a:p>
        </p:txBody>
      </p:sp>
      <p:cxnSp>
        <p:nvCxnSpPr>
          <p:cNvPr id="80" name="Straight Connector 79">
            <a:extLst>
              <a:ext uri="{FF2B5EF4-FFF2-40B4-BE49-F238E27FC236}">
                <a16:creationId xmlns:a16="http://schemas.microsoft.com/office/drawing/2014/main" id="{C4A96246-0808-A91C-5467-69A42378C131}"/>
              </a:ext>
            </a:extLst>
          </p:cNvPr>
          <p:cNvCxnSpPr>
            <a:cxnSpLocks/>
          </p:cNvCxnSpPr>
          <p:nvPr/>
        </p:nvCxnSpPr>
        <p:spPr>
          <a:xfrm>
            <a:off x="4254638" y="3864147"/>
            <a:ext cx="0" cy="1465858"/>
          </a:xfrm>
          <a:prstGeom prst="line">
            <a:avLst/>
          </a:prstGeom>
        </p:spPr>
        <p:style>
          <a:lnRef idx="3">
            <a:schemeClr val="dk1"/>
          </a:lnRef>
          <a:fillRef idx="0">
            <a:schemeClr val="dk1"/>
          </a:fillRef>
          <a:effectRef idx="2">
            <a:schemeClr val="dk1"/>
          </a:effectRef>
          <a:fontRef idx="minor">
            <a:schemeClr val="tx1"/>
          </a:fontRef>
        </p:style>
      </p:cxnSp>
      <p:sp>
        <p:nvSpPr>
          <p:cNvPr id="82" name="TextBox 81">
            <a:extLst>
              <a:ext uri="{FF2B5EF4-FFF2-40B4-BE49-F238E27FC236}">
                <a16:creationId xmlns:a16="http://schemas.microsoft.com/office/drawing/2014/main" id="{FD79F4E7-3B78-E487-9473-D0DB656D4914}"/>
              </a:ext>
            </a:extLst>
          </p:cNvPr>
          <p:cNvSpPr txBox="1"/>
          <p:nvPr/>
        </p:nvSpPr>
        <p:spPr>
          <a:xfrm>
            <a:off x="4392891" y="3930189"/>
            <a:ext cx="1005129" cy="369332"/>
          </a:xfrm>
          <a:prstGeom prst="rect">
            <a:avLst/>
          </a:prstGeom>
          <a:noFill/>
        </p:spPr>
        <p:txBody>
          <a:bodyPr wrap="square">
            <a:spAutoFit/>
          </a:bodyPr>
          <a:lstStyle/>
          <a:p>
            <a:pPr marL="0" lvl="0" indent="0" algn="l" rtl="0">
              <a:spcBef>
                <a:spcPts val="0"/>
              </a:spcBef>
              <a:spcAft>
                <a:spcPts val="0"/>
              </a:spcAft>
              <a:buNone/>
            </a:pPr>
            <a:r>
              <a:rPr lang="en-IN" b="1" dirty="0"/>
              <a:t>Genre</a:t>
            </a:r>
          </a:p>
        </p:txBody>
      </p:sp>
      <p:sp>
        <p:nvSpPr>
          <p:cNvPr id="84" name="TextBox 83">
            <a:extLst>
              <a:ext uri="{FF2B5EF4-FFF2-40B4-BE49-F238E27FC236}">
                <a16:creationId xmlns:a16="http://schemas.microsoft.com/office/drawing/2014/main" id="{875CE0F3-DF7B-FABD-9459-594AF6FEE533}"/>
              </a:ext>
            </a:extLst>
          </p:cNvPr>
          <p:cNvSpPr txBox="1"/>
          <p:nvPr/>
        </p:nvSpPr>
        <p:spPr>
          <a:xfrm>
            <a:off x="4308832" y="4278962"/>
            <a:ext cx="2037768" cy="369332"/>
          </a:xfrm>
          <a:prstGeom prst="rect">
            <a:avLst/>
          </a:prstGeom>
          <a:noFill/>
        </p:spPr>
        <p:txBody>
          <a:bodyPr wrap="square">
            <a:spAutoFit/>
          </a:bodyPr>
          <a:lstStyle/>
          <a:p>
            <a:pPr marL="0" lvl="0" indent="0" algn="l" rtl="0">
              <a:lnSpc>
                <a:spcPct val="100000"/>
              </a:lnSpc>
              <a:spcBef>
                <a:spcPts val="0"/>
              </a:spcBef>
              <a:spcAft>
                <a:spcPts val="0"/>
              </a:spcAft>
              <a:buClr>
                <a:schemeClr val="dk1"/>
              </a:buClr>
              <a:buSzPts val="1100"/>
              <a:buNone/>
            </a:pPr>
            <a:r>
              <a:rPr lang="en-IN" dirty="0" err="1"/>
              <a:t>GenreId</a:t>
            </a:r>
            <a:r>
              <a:rPr lang="en-IN" dirty="0"/>
              <a:t>, Name</a:t>
            </a:r>
          </a:p>
        </p:txBody>
      </p:sp>
      <p:cxnSp>
        <p:nvCxnSpPr>
          <p:cNvPr id="85" name="Straight Connector 84">
            <a:extLst>
              <a:ext uri="{FF2B5EF4-FFF2-40B4-BE49-F238E27FC236}">
                <a16:creationId xmlns:a16="http://schemas.microsoft.com/office/drawing/2014/main" id="{27B50055-5ADC-5F58-B2EA-1811556EAD55}"/>
              </a:ext>
            </a:extLst>
          </p:cNvPr>
          <p:cNvCxnSpPr>
            <a:cxnSpLocks/>
          </p:cNvCxnSpPr>
          <p:nvPr/>
        </p:nvCxnSpPr>
        <p:spPr>
          <a:xfrm>
            <a:off x="5969925" y="3864147"/>
            <a:ext cx="0" cy="1465858"/>
          </a:xfrm>
          <a:prstGeom prst="line">
            <a:avLst/>
          </a:prstGeom>
        </p:spPr>
        <p:style>
          <a:lnRef idx="3">
            <a:schemeClr val="dk1"/>
          </a:lnRef>
          <a:fillRef idx="0">
            <a:schemeClr val="dk1"/>
          </a:fillRef>
          <a:effectRef idx="2">
            <a:schemeClr val="dk1"/>
          </a:effectRef>
          <a:fontRef idx="minor">
            <a:schemeClr val="tx1"/>
          </a:fontRef>
        </p:style>
      </p:cxnSp>
      <p:sp>
        <p:nvSpPr>
          <p:cNvPr id="87" name="TextBox 86">
            <a:extLst>
              <a:ext uri="{FF2B5EF4-FFF2-40B4-BE49-F238E27FC236}">
                <a16:creationId xmlns:a16="http://schemas.microsoft.com/office/drawing/2014/main" id="{11F6CA27-79F6-188E-C19F-6B65B8414A3F}"/>
              </a:ext>
            </a:extLst>
          </p:cNvPr>
          <p:cNvSpPr txBox="1"/>
          <p:nvPr/>
        </p:nvSpPr>
        <p:spPr>
          <a:xfrm>
            <a:off x="6088145" y="3909630"/>
            <a:ext cx="1025159" cy="369332"/>
          </a:xfrm>
          <a:prstGeom prst="rect">
            <a:avLst/>
          </a:prstGeom>
          <a:noFill/>
        </p:spPr>
        <p:txBody>
          <a:bodyPr wrap="square">
            <a:spAutoFit/>
          </a:bodyPr>
          <a:lstStyle/>
          <a:p>
            <a:pPr marL="0" lvl="0" indent="0" algn="l" rtl="0">
              <a:spcBef>
                <a:spcPts val="0"/>
              </a:spcBef>
              <a:spcAft>
                <a:spcPts val="0"/>
              </a:spcAft>
              <a:buNone/>
            </a:pPr>
            <a:r>
              <a:rPr lang="en-IN" b="1" dirty="0"/>
              <a:t>Artist</a:t>
            </a:r>
          </a:p>
        </p:txBody>
      </p:sp>
      <p:sp>
        <p:nvSpPr>
          <p:cNvPr id="89" name="TextBox 88">
            <a:extLst>
              <a:ext uri="{FF2B5EF4-FFF2-40B4-BE49-F238E27FC236}">
                <a16:creationId xmlns:a16="http://schemas.microsoft.com/office/drawing/2014/main" id="{6C3331B5-5216-AF9D-7AEB-38B0E7014191}"/>
              </a:ext>
            </a:extLst>
          </p:cNvPr>
          <p:cNvSpPr txBox="1"/>
          <p:nvPr/>
        </p:nvSpPr>
        <p:spPr>
          <a:xfrm>
            <a:off x="6108177" y="4278962"/>
            <a:ext cx="1597056" cy="369332"/>
          </a:xfrm>
          <a:prstGeom prst="rect">
            <a:avLst/>
          </a:prstGeom>
          <a:noFill/>
        </p:spPr>
        <p:txBody>
          <a:bodyPr wrap="square">
            <a:spAutoFit/>
          </a:bodyPr>
          <a:lstStyle/>
          <a:p>
            <a:pPr marL="0" marR="0" lvl="0" indent="0" algn="l" rtl="0">
              <a:lnSpc>
                <a:spcPct val="100000"/>
              </a:lnSpc>
              <a:spcBef>
                <a:spcPts val="0"/>
              </a:spcBef>
              <a:spcAft>
                <a:spcPts val="0"/>
              </a:spcAft>
              <a:buClr>
                <a:schemeClr val="dk1"/>
              </a:buClr>
              <a:buSzPts val="1100"/>
              <a:buFont typeface="Arial"/>
              <a:buNone/>
            </a:pPr>
            <a:r>
              <a:rPr lang="en-IN" dirty="0" err="1"/>
              <a:t>ArtistId</a:t>
            </a:r>
            <a:r>
              <a:rPr lang="en-IN" dirty="0"/>
              <a:t>, Name</a:t>
            </a:r>
          </a:p>
        </p:txBody>
      </p:sp>
      <p:cxnSp>
        <p:nvCxnSpPr>
          <p:cNvPr id="90" name="Google Shape;460;p57">
            <a:extLst>
              <a:ext uri="{FF2B5EF4-FFF2-40B4-BE49-F238E27FC236}">
                <a16:creationId xmlns:a16="http://schemas.microsoft.com/office/drawing/2014/main" id="{3D2D3C47-FD9D-5854-8DFA-DA1CA1ECAF5F}"/>
              </a:ext>
            </a:extLst>
          </p:cNvPr>
          <p:cNvCxnSpPr/>
          <p:nvPr/>
        </p:nvCxnSpPr>
        <p:spPr>
          <a:xfrm>
            <a:off x="2672894" y="3605087"/>
            <a:ext cx="0" cy="1001400"/>
          </a:xfrm>
          <a:prstGeom prst="straightConnector1">
            <a:avLst/>
          </a:prstGeom>
          <a:noFill/>
          <a:ln w="9525" cap="flat" cmpd="sng">
            <a:solidFill>
              <a:schemeClr val="accent6"/>
            </a:solidFill>
            <a:prstDash val="solid"/>
            <a:round/>
            <a:headEnd type="none" w="med" len="med"/>
            <a:tailEnd type="none" w="med" len="med"/>
          </a:ln>
        </p:spPr>
      </p:cxnSp>
      <p:cxnSp>
        <p:nvCxnSpPr>
          <p:cNvPr id="91" name="Straight Connector 90">
            <a:extLst>
              <a:ext uri="{FF2B5EF4-FFF2-40B4-BE49-F238E27FC236}">
                <a16:creationId xmlns:a16="http://schemas.microsoft.com/office/drawing/2014/main" id="{14B911EF-B5F8-1B37-8BCC-D57987C48FD9}"/>
              </a:ext>
            </a:extLst>
          </p:cNvPr>
          <p:cNvCxnSpPr>
            <a:cxnSpLocks/>
          </p:cNvCxnSpPr>
          <p:nvPr/>
        </p:nvCxnSpPr>
        <p:spPr>
          <a:xfrm>
            <a:off x="7728416" y="3864147"/>
            <a:ext cx="0" cy="1465858"/>
          </a:xfrm>
          <a:prstGeom prst="line">
            <a:avLst/>
          </a:prstGeom>
        </p:spPr>
        <p:style>
          <a:lnRef idx="3">
            <a:schemeClr val="dk1"/>
          </a:lnRef>
          <a:fillRef idx="0">
            <a:schemeClr val="dk1"/>
          </a:fillRef>
          <a:effectRef idx="2">
            <a:schemeClr val="dk1"/>
          </a:effectRef>
          <a:fontRef idx="minor">
            <a:schemeClr val="tx1"/>
          </a:fontRef>
        </p:style>
      </p:cxnSp>
      <p:sp>
        <p:nvSpPr>
          <p:cNvPr id="93" name="TextBox 92">
            <a:extLst>
              <a:ext uri="{FF2B5EF4-FFF2-40B4-BE49-F238E27FC236}">
                <a16:creationId xmlns:a16="http://schemas.microsoft.com/office/drawing/2014/main" id="{8DC7B7BE-33DA-3A28-7DE4-DBDB013EAF96}"/>
              </a:ext>
            </a:extLst>
          </p:cNvPr>
          <p:cNvSpPr txBox="1"/>
          <p:nvPr/>
        </p:nvSpPr>
        <p:spPr>
          <a:xfrm>
            <a:off x="7971150" y="3905831"/>
            <a:ext cx="1267116" cy="646331"/>
          </a:xfrm>
          <a:prstGeom prst="rect">
            <a:avLst/>
          </a:prstGeom>
          <a:noFill/>
        </p:spPr>
        <p:txBody>
          <a:bodyPr wrap="square">
            <a:spAutoFit/>
          </a:bodyPr>
          <a:lstStyle/>
          <a:p>
            <a:pPr marL="0" lvl="0" indent="0" algn="l" rtl="0">
              <a:spcBef>
                <a:spcPts val="0"/>
              </a:spcBef>
              <a:spcAft>
                <a:spcPts val="0"/>
              </a:spcAft>
              <a:buNone/>
            </a:pPr>
            <a:r>
              <a:rPr lang="en-IN" b="1" dirty="0"/>
              <a:t>Playlist Track</a:t>
            </a:r>
          </a:p>
        </p:txBody>
      </p:sp>
      <p:sp>
        <p:nvSpPr>
          <p:cNvPr id="95" name="TextBox 94">
            <a:extLst>
              <a:ext uri="{FF2B5EF4-FFF2-40B4-BE49-F238E27FC236}">
                <a16:creationId xmlns:a16="http://schemas.microsoft.com/office/drawing/2014/main" id="{CEC051DA-7C79-A37C-8412-D6DFFF097296}"/>
              </a:ext>
            </a:extLst>
          </p:cNvPr>
          <p:cNvSpPr txBox="1"/>
          <p:nvPr/>
        </p:nvSpPr>
        <p:spPr>
          <a:xfrm>
            <a:off x="7843484" y="4487075"/>
            <a:ext cx="1394782" cy="646331"/>
          </a:xfrm>
          <a:prstGeom prst="rect">
            <a:avLst/>
          </a:prstGeom>
          <a:noFill/>
        </p:spPr>
        <p:txBody>
          <a:bodyPr wrap="square">
            <a:spAutoFit/>
          </a:bodyPr>
          <a:lstStyle/>
          <a:p>
            <a:pPr marL="0" lvl="0" indent="0" algn="l" rtl="0">
              <a:lnSpc>
                <a:spcPct val="100000"/>
              </a:lnSpc>
              <a:spcBef>
                <a:spcPts val="0"/>
              </a:spcBef>
              <a:spcAft>
                <a:spcPts val="0"/>
              </a:spcAft>
              <a:buClr>
                <a:schemeClr val="dk1"/>
              </a:buClr>
              <a:buSzPts val="1100"/>
              <a:buNone/>
            </a:pPr>
            <a:r>
              <a:rPr lang="en-IN" dirty="0" err="1"/>
              <a:t>PlaylistId</a:t>
            </a:r>
            <a:r>
              <a:rPr lang="en-IN" dirty="0"/>
              <a:t>, Name</a:t>
            </a:r>
          </a:p>
        </p:txBody>
      </p:sp>
      <p:cxnSp>
        <p:nvCxnSpPr>
          <p:cNvPr id="96" name="Straight Connector 95">
            <a:extLst>
              <a:ext uri="{FF2B5EF4-FFF2-40B4-BE49-F238E27FC236}">
                <a16:creationId xmlns:a16="http://schemas.microsoft.com/office/drawing/2014/main" id="{B8BCF1D4-3E58-62AB-A165-4795AB4CFFB3}"/>
              </a:ext>
            </a:extLst>
          </p:cNvPr>
          <p:cNvCxnSpPr>
            <a:cxnSpLocks/>
          </p:cNvCxnSpPr>
          <p:nvPr/>
        </p:nvCxnSpPr>
        <p:spPr>
          <a:xfrm>
            <a:off x="9106301" y="3819233"/>
            <a:ext cx="0" cy="1465858"/>
          </a:xfrm>
          <a:prstGeom prst="line">
            <a:avLst/>
          </a:prstGeom>
        </p:spPr>
        <p:style>
          <a:lnRef idx="3">
            <a:schemeClr val="dk1"/>
          </a:lnRef>
          <a:fillRef idx="0">
            <a:schemeClr val="dk1"/>
          </a:fillRef>
          <a:effectRef idx="2">
            <a:schemeClr val="dk1"/>
          </a:effectRef>
          <a:fontRef idx="minor">
            <a:schemeClr val="tx1"/>
          </a:fontRef>
        </p:style>
      </p:cxnSp>
      <p:sp>
        <p:nvSpPr>
          <p:cNvPr id="98" name="TextBox 97">
            <a:extLst>
              <a:ext uri="{FF2B5EF4-FFF2-40B4-BE49-F238E27FC236}">
                <a16:creationId xmlns:a16="http://schemas.microsoft.com/office/drawing/2014/main" id="{B91B21A0-5012-BD71-3EF1-8E66CCF832CB}"/>
              </a:ext>
            </a:extLst>
          </p:cNvPr>
          <p:cNvSpPr txBox="1"/>
          <p:nvPr/>
        </p:nvSpPr>
        <p:spPr>
          <a:xfrm>
            <a:off x="9238266" y="3930189"/>
            <a:ext cx="1245920" cy="369332"/>
          </a:xfrm>
          <a:prstGeom prst="rect">
            <a:avLst/>
          </a:prstGeom>
          <a:noFill/>
        </p:spPr>
        <p:txBody>
          <a:bodyPr wrap="square">
            <a:spAutoFit/>
          </a:bodyPr>
          <a:lstStyle/>
          <a:p>
            <a:pPr lvl="0"/>
            <a:r>
              <a:rPr lang="en-IN" b="1" dirty="0"/>
              <a:t>Playlist</a:t>
            </a:r>
          </a:p>
        </p:txBody>
      </p:sp>
      <p:sp>
        <p:nvSpPr>
          <p:cNvPr id="100" name="TextBox 99">
            <a:extLst>
              <a:ext uri="{FF2B5EF4-FFF2-40B4-BE49-F238E27FC236}">
                <a16:creationId xmlns:a16="http://schemas.microsoft.com/office/drawing/2014/main" id="{F621A7EC-FCC3-7DB3-33CB-89FA90205906}"/>
              </a:ext>
            </a:extLst>
          </p:cNvPr>
          <p:cNvSpPr txBox="1"/>
          <p:nvPr/>
        </p:nvSpPr>
        <p:spPr>
          <a:xfrm>
            <a:off x="9238266" y="4383217"/>
            <a:ext cx="1813192" cy="369332"/>
          </a:xfrm>
          <a:prstGeom prst="rect">
            <a:avLst/>
          </a:prstGeom>
          <a:noFill/>
        </p:spPr>
        <p:txBody>
          <a:bodyPr wrap="square">
            <a:spAutoFit/>
          </a:bodyPr>
          <a:lstStyle/>
          <a:p>
            <a:pPr marL="0" lvl="0" indent="0" algn="l" rtl="0">
              <a:lnSpc>
                <a:spcPct val="100000"/>
              </a:lnSpc>
              <a:spcBef>
                <a:spcPts val="0"/>
              </a:spcBef>
              <a:spcAft>
                <a:spcPts val="0"/>
              </a:spcAft>
              <a:buClr>
                <a:schemeClr val="dk1"/>
              </a:buClr>
              <a:buSzPts val="1100"/>
              <a:buNone/>
            </a:pPr>
            <a:r>
              <a:rPr lang="en-IN" dirty="0" err="1"/>
              <a:t>PlaylistId</a:t>
            </a:r>
            <a:r>
              <a:rPr lang="en-IN" dirty="0"/>
              <a:t>, </a:t>
            </a:r>
            <a:r>
              <a:rPr lang="en-IN" dirty="0" err="1"/>
              <a:t>TrackId</a:t>
            </a:r>
            <a:endParaRPr lang="en-IN" dirty="0"/>
          </a:p>
        </p:txBody>
      </p:sp>
    </p:spTree>
    <p:extLst>
      <p:ext uri="{BB962C8B-B14F-4D97-AF65-F5344CB8AC3E}">
        <p14:creationId xmlns:p14="http://schemas.microsoft.com/office/powerpoint/2010/main" val="2415096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A4217-6C41-C6EB-579F-FFB9B82F3A28}"/>
              </a:ext>
            </a:extLst>
          </p:cNvPr>
          <p:cNvSpPr>
            <a:spLocks noGrp="1"/>
          </p:cNvSpPr>
          <p:nvPr>
            <p:ph type="title"/>
          </p:nvPr>
        </p:nvSpPr>
        <p:spPr>
          <a:xfrm>
            <a:off x="308982" y="70510"/>
            <a:ext cx="9788342" cy="868471"/>
          </a:xfrm>
        </p:spPr>
        <p:txBody>
          <a:bodyPr vert="horz" lIns="91440" tIns="45720" rIns="91440" bIns="45720" rtlCol="0" anchor="b">
            <a:noAutofit/>
          </a:bodyPr>
          <a:lstStyle/>
          <a:p>
            <a:r>
              <a:rPr lang="en-US" sz="3600" dirty="0"/>
              <a:t>Database</a:t>
            </a:r>
            <a:r>
              <a:rPr lang="en-US" dirty="0"/>
              <a:t> schema</a:t>
            </a:r>
          </a:p>
        </p:txBody>
      </p:sp>
      <p:pic>
        <p:nvPicPr>
          <p:cNvPr id="4" name="Google Shape;79;p17">
            <a:extLst>
              <a:ext uri="{FF2B5EF4-FFF2-40B4-BE49-F238E27FC236}">
                <a16:creationId xmlns:a16="http://schemas.microsoft.com/office/drawing/2014/main" id="{19279152-246F-74FE-4FDA-DF97104FEF90}"/>
              </a:ext>
            </a:extLst>
          </p:cNvPr>
          <p:cNvPicPr preferRelativeResize="0">
            <a:picLocks noGrp="1"/>
          </p:cNvPicPr>
          <p:nvPr>
            <p:ph sz="quarter" idx="13"/>
          </p:nvPr>
        </p:nvPicPr>
        <p:blipFill>
          <a:blip r:embed="rId2"/>
          <a:srcRect l="18" r="-2" b="-2"/>
          <a:stretch/>
        </p:blipFill>
        <p:spPr>
          <a:xfrm rot="21600000">
            <a:off x="2561849" y="938981"/>
            <a:ext cx="6082023" cy="4739148"/>
          </a:xfrm>
          <a:prstGeom prst="rect">
            <a:avLst/>
          </a:prstGeom>
          <a:noFill/>
        </p:spPr>
      </p:pic>
    </p:spTree>
    <p:extLst>
      <p:ext uri="{BB962C8B-B14F-4D97-AF65-F5344CB8AC3E}">
        <p14:creationId xmlns:p14="http://schemas.microsoft.com/office/powerpoint/2010/main" val="1076138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87E5FC-0825-E4B4-114C-3186C82EF13A}"/>
              </a:ext>
            </a:extLst>
          </p:cNvPr>
          <p:cNvSpPr txBox="1"/>
          <p:nvPr/>
        </p:nvSpPr>
        <p:spPr>
          <a:xfrm>
            <a:off x="757084" y="314632"/>
            <a:ext cx="9566787" cy="590931"/>
          </a:xfrm>
          <a:prstGeom prst="rect">
            <a:avLst/>
          </a:prstGeom>
          <a:noFill/>
        </p:spPr>
        <p:txBody>
          <a:bodyPr wrap="square" rtlCol="0">
            <a:spAutoFit/>
          </a:bodyPr>
          <a:lstStyle/>
          <a:p>
            <a:pPr defTabSz="914400">
              <a:lnSpc>
                <a:spcPct val="90000"/>
              </a:lnSpc>
              <a:spcBef>
                <a:spcPct val="0"/>
              </a:spcBef>
            </a:pPr>
            <a:r>
              <a:rPr lang="en-IN" sz="3600" dirty="0"/>
              <a:t>Methodology</a:t>
            </a:r>
            <a:endParaRPr lang="en-IN" sz="3600" cap="all" dirty="0">
              <a:latin typeface="+mj-lt"/>
              <a:ea typeface="+mj-ea"/>
              <a:cs typeface="+mj-cs"/>
            </a:endParaRPr>
          </a:p>
        </p:txBody>
      </p:sp>
      <p:sp>
        <p:nvSpPr>
          <p:cNvPr id="6" name="Rectangle: Rounded Corners 5">
            <a:extLst>
              <a:ext uri="{FF2B5EF4-FFF2-40B4-BE49-F238E27FC236}">
                <a16:creationId xmlns:a16="http://schemas.microsoft.com/office/drawing/2014/main" id="{4D0A32B2-FF3C-06F2-2A6F-90750563F959}"/>
              </a:ext>
            </a:extLst>
          </p:cNvPr>
          <p:cNvSpPr/>
          <p:nvPr/>
        </p:nvSpPr>
        <p:spPr>
          <a:xfrm>
            <a:off x="595254" y="1256335"/>
            <a:ext cx="1913409" cy="754137"/>
          </a:xfrm>
          <a:prstGeom prst="roundRect">
            <a:avLst/>
          </a:prstGeom>
          <a:solidFill>
            <a:schemeClr val="bg2"/>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Step 1 </a:t>
            </a:r>
            <a:endParaRPr lang="en-IN" dirty="0"/>
          </a:p>
        </p:txBody>
      </p:sp>
      <p:sp>
        <p:nvSpPr>
          <p:cNvPr id="7" name="Rectangle: Rounded Corners 6">
            <a:extLst>
              <a:ext uri="{FF2B5EF4-FFF2-40B4-BE49-F238E27FC236}">
                <a16:creationId xmlns:a16="http://schemas.microsoft.com/office/drawing/2014/main" id="{C5661A69-AA7C-5FDB-1739-09AA92FE40CB}"/>
              </a:ext>
            </a:extLst>
          </p:cNvPr>
          <p:cNvSpPr/>
          <p:nvPr/>
        </p:nvSpPr>
        <p:spPr>
          <a:xfrm>
            <a:off x="556253" y="2166492"/>
            <a:ext cx="1991412" cy="917728"/>
          </a:xfrm>
          <a:prstGeom prst="round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Data Understanding</a:t>
            </a:r>
          </a:p>
        </p:txBody>
      </p:sp>
      <p:cxnSp>
        <p:nvCxnSpPr>
          <p:cNvPr id="8" name="Straight Arrow Connector 7">
            <a:extLst>
              <a:ext uri="{FF2B5EF4-FFF2-40B4-BE49-F238E27FC236}">
                <a16:creationId xmlns:a16="http://schemas.microsoft.com/office/drawing/2014/main" id="{488793B9-FD1E-40D4-42FD-FE14FE3BABDD}"/>
              </a:ext>
            </a:extLst>
          </p:cNvPr>
          <p:cNvCxnSpPr>
            <a:cxnSpLocks/>
          </p:cNvCxnSpPr>
          <p:nvPr/>
        </p:nvCxnSpPr>
        <p:spPr>
          <a:xfrm>
            <a:off x="2639506" y="1249473"/>
            <a:ext cx="0" cy="4397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1" name="TextBox 10">
            <a:extLst>
              <a:ext uri="{FF2B5EF4-FFF2-40B4-BE49-F238E27FC236}">
                <a16:creationId xmlns:a16="http://schemas.microsoft.com/office/drawing/2014/main" id="{3E267B57-46B3-BAC6-1FE6-117ED1058994}"/>
              </a:ext>
            </a:extLst>
          </p:cNvPr>
          <p:cNvSpPr txBox="1"/>
          <p:nvPr/>
        </p:nvSpPr>
        <p:spPr>
          <a:xfrm>
            <a:off x="621675" y="3271401"/>
            <a:ext cx="1952410" cy="923330"/>
          </a:xfrm>
          <a:prstGeom prst="rect">
            <a:avLst/>
          </a:prstGeom>
          <a:noFill/>
        </p:spPr>
        <p:txBody>
          <a:bodyPr wrap="square">
            <a:spAutoFit/>
          </a:bodyPr>
          <a:lstStyle/>
          <a:p>
            <a:r>
              <a:rPr lang="en-US" dirty="0"/>
              <a:t>Analyzed database schema and table relationships.</a:t>
            </a:r>
            <a:endParaRPr lang="en-IN" dirty="0"/>
          </a:p>
        </p:txBody>
      </p:sp>
      <p:sp>
        <p:nvSpPr>
          <p:cNvPr id="12" name="Rectangle: Rounded Corners 11">
            <a:extLst>
              <a:ext uri="{FF2B5EF4-FFF2-40B4-BE49-F238E27FC236}">
                <a16:creationId xmlns:a16="http://schemas.microsoft.com/office/drawing/2014/main" id="{F063636D-0B36-80AF-234E-3921A2787586}"/>
              </a:ext>
            </a:extLst>
          </p:cNvPr>
          <p:cNvSpPr/>
          <p:nvPr/>
        </p:nvSpPr>
        <p:spPr>
          <a:xfrm>
            <a:off x="2828944" y="1256335"/>
            <a:ext cx="1913409" cy="754137"/>
          </a:xfrm>
          <a:prstGeom prst="roundRect">
            <a:avLst/>
          </a:prstGeom>
          <a:solidFill>
            <a:schemeClr val="bg2"/>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Step 2 </a:t>
            </a:r>
            <a:endParaRPr lang="en-IN" dirty="0"/>
          </a:p>
        </p:txBody>
      </p:sp>
      <p:sp>
        <p:nvSpPr>
          <p:cNvPr id="13" name="Rectangle: Rounded Corners 12">
            <a:extLst>
              <a:ext uri="{FF2B5EF4-FFF2-40B4-BE49-F238E27FC236}">
                <a16:creationId xmlns:a16="http://schemas.microsoft.com/office/drawing/2014/main" id="{C72F093E-6C2E-BDBA-EC44-C9AFAF1AFD85}"/>
              </a:ext>
            </a:extLst>
          </p:cNvPr>
          <p:cNvSpPr/>
          <p:nvPr/>
        </p:nvSpPr>
        <p:spPr>
          <a:xfrm>
            <a:off x="2809534" y="2178641"/>
            <a:ext cx="1991412" cy="917728"/>
          </a:xfrm>
          <a:prstGeom prst="round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Data Preparation</a:t>
            </a:r>
          </a:p>
        </p:txBody>
      </p:sp>
      <p:cxnSp>
        <p:nvCxnSpPr>
          <p:cNvPr id="14" name="Straight Arrow Connector 13">
            <a:extLst>
              <a:ext uri="{FF2B5EF4-FFF2-40B4-BE49-F238E27FC236}">
                <a16:creationId xmlns:a16="http://schemas.microsoft.com/office/drawing/2014/main" id="{1A5D6B3A-363D-C2EA-3D63-F818B09B7F61}"/>
              </a:ext>
            </a:extLst>
          </p:cNvPr>
          <p:cNvCxnSpPr>
            <a:cxnSpLocks/>
          </p:cNvCxnSpPr>
          <p:nvPr/>
        </p:nvCxnSpPr>
        <p:spPr>
          <a:xfrm>
            <a:off x="4931791" y="1230408"/>
            <a:ext cx="0" cy="4397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6" name="TextBox 15">
            <a:extLst>
              <a:ext uri="{FF2B5EF4-FFF2-40B4-BE49-F238E27FC236}">
                <a16:creationId xmlns:a16="http://schemas.microsoft.com/office/drawing/2014/main" id="{9BFBB4C7-7B26-BAEB-6192-8F0BE4F9267B}"/>
              </a:ext>
            </a:extLst>
          </p:cNvPr>
          <p:cNvSpPr txBox="1"/>
          <p:nvPr/>
        </p:nvSpPr>
        <p:spPr>
          <a:xfrm>
            <a:off x="2809534" y="3264538"/>
            <a:ext cx="1991411" cy="923330"/>
          </a:xfrm>
          <a:prstGeom prst="rect">
            <a:avLst/>
          </a:prstGeom>
          <a:noFill/>
        </p:spPr>
        <p:txBody>
          <a:bodyPr wrap="square">
            <a:spAutoFit/>
          </a:bodyPr>
          <a:lstStyle/>
          <a:p>
            <a:pPr>
              <a:buNone/>
            </a:pPr>
            <a:r>
              <a:rPr lang="en-US" dirty="0"/>
              <a:t>Cleaned data and handled missing or inconsistent values.</a:t>
            </a:r>
          </a:p>
        </p:txBody>
      </p:sp>
      <p:sp>
        <p:nvSpPr>
          <p:cNvPr id="17" name="Rectangle: Rounded Corners 16">
            <a:extLst>
              <a:ext uri="{FF2B5EF4-FFF2-40B4-BE49-F238E27FC236}">
                <a16:creationId xmlns:a16="http://schemas.microsoft.com/office/drawing/2014/main" id="{5C4E0552-F582-285D-15B6-A59C124267B4}"/>
              </a:ext>
            </a:extLst>
          </p:cNvPr>
          <p:cNvSpPr/>
          <p:nvPr/>
        </p:nvSpPr>
        <p:spPr>
          <a:xfrm>
            <a:off x="5139295" y="1285452"/>
            <a:ext cx="1913409" cy="754137"/>
          </a:xfrm>
          <a:prstGeom prst="roundRect">
            <a:avLst/>
          </a:prstGeom>
          <a:solidFill>
            <a:schemeClr val="bg2"/>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Step 3 </a:t>
            </a:r>
            <a:endParaRPr lang="en-IN" dirty="0"/>
          </a:p>
        </p:txBody>
      </p:sp>
      <p:sp>
        <p:nvSpPr>
          <p:cNvPr id="18" name="Rectangle: Rounded Corners 17">
            <a:extLst>
              <a:ext uri="{FF2B5EF4-FFF2-40B4-BE49-F238E27FC236}">
                <a16:creationId xmlns:a16="http://schemas.microsoft.com/office/drawing/2014/main" id="{0713A47E-8E7A-7E2C-A97C-FE62A5B0B60F}"/>
              </a:ext>
            </a:extLst>
          </p:cNvPr>
          <p:cNvSpPr/>
          <p:nvPr/>
        </p:nvSpPr>
        <p:spPr>
          <a:xfrm>
            <a:off x="5121230" y="2178641"/>
            <a:ext cx="1991412" cy="917728"/>
          </a:xfrm>
          <a:prstGeom prst="round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Data Extraction</a:t>
            </a:r>
          </a:p>
        </p:txBody>
      </p:sp>
      <p:sp>
        <p:nvSpPr>
          <p:cNvPr id="19" name="Rectangle: Rounded Corners 18">
            <a:extLst>
              <a:ext uri="{FF2B5EF4-FFF2-40B4-BE49-F238E27FC236}">
                <a16:creationId xmlns:a16="http://schemas.microsoft.com/office/drawing/2014/main" id="{C9D5BB35-25DD-0EFB-8710-4C48F856E6DE}"/>
              </a:ext>
            </a:extLst>
          </p:cNvPr>
          <p:cNvSpPr/>
          <p:nvPr/>
        </p:nvSpPr>
        <p:spPr>
          <a:xfrm>
            <a:off x="7432366" y="2179690"/>
            <a:ext cx="1991412" cy="917728"/>
          </a:xfrm>
          <a:prstGeom prst="round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Analysis &amp; Visualization</a:t>
            </a:r>
          </a:p>
        </p:txBody>
      </p:sp>
      <p:sp>
        <p:nvSpPr>
          <p:cNvPr id="21" name="TextBox 20">
            <a:extLst>
              <a:ext uri="{FF2B5EF4-FFF2-40B4-BE49-F238E27FC236}">
                <a16:creationId xmlns:a16="http://schemas.microsoft.com/office/drawing/2014/main" id="{ADE92F10-023A-3D18-7210-DF8AACD98E62}"/>
              </a:ext>
            </a:extLst>
          </p:cNvPr>
          <p:cNvSpPr txBox="1"/>
          <p:nvPr/>
        </p:nvSpPr>
        <p:spPr>
          <a:xfrm>
            <a:off x="5071506" y="3294113"/>
            <a:ext cx="2050006" cy="923330"/>
          </a:xfrm>
          <a:prstGeom prst="rect">
            <a:avLst/>
          </a:prstGeom>
          <a:noFill/>
        </p:spPr>
        <p:txBody>
          <a:bodyPr wrap="square">
            <a:spAutoFit/>
          </a:bodyPr>
          <a:lstStyle/>
          <a:p>
            <a:r>
              <a:rPr lang="en-US" dirty="0"/>
              <a:t>Used SQL queries to retrieve relevant data insight </a:t>
            </a:r>
            <a:endParaRPr lang="en-IN" dirty="0"/>
          </a:p>
        </p:txBody>
      </p:sp>
      <p:cxnSp>
        <p:nvCxnSpPr>
          <p:cNvPr id="22" name="Straight Arrow Connector 21">
            <a:extLst>
              <a:ext uri="{FF2B5EF4-FFF2-40B4-BE49-F238E27FC236}">
                <a16:creationId xmlns:a16="http://schemas.microsoft.com/office/drawing/2014/main" id="{7212363D-E24A-8E9D-B2BB-05DBBC5BBB94}"/>
              </a:ext>
            </a:extLst>
          </p:cNvPr>
          <p:cNvCxnSpPr>
            <a:cxnSpLocks/>
          </p:cNvCxnSpPr>
          <p:nvPr/>
        </p:nvCxnSpPr>
        <p:spPr>
          <a:xfrm>
            <a:off x="7252356" y="1230408"/>
            <a:ext cx="0" cy="4397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 name="Rectangle: Rounded Corners 24">
            <a:extLst>
              <a:ext uri="{FF2B5EF4-FFF2-40B4-BE49-F238E27FC236}">
                <a16:creationId xmlns:a16="http://schemas.microsoft.com/office/drawing/2014/main" id="{767EB6DF-40B2-483C-E293-88E71CEBB429}"/>
              </a:ext>
            </a:extLst>
          </p:cNvPr>
          <p:cNvSpPr/>
          <p:nvPr/>
        </p:nvSpPr>
        <p:spPr>
          <a:xfrm>
            <a:off x="7471368" y="1285452"/>
            <a:ext cx="1913409" cy="754137"/>
          </a:xfrm>
          <a:prstGeom prst="roundRect">
            <a:avLst/>
          </a:prstGeom>
          <a:solidFill>
            <a:schemeClr val="bg2"/>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Step 4</a:t>
            </a:r>
            <a:endParaRPr lang="en-IN" dirty="0"/>
          </a:p>
        </p:txBody>
      </p:sp>
      <p:sp>
        <p:nvSpPr>
          <p:cNvPr id="27" name="TextBox 26">
            <a:extLst>
              <a:ext uri="{FF2B5EF4-FFF2-40B4-BE49-F238E27FC236}">
                <a16:creationId xmlns:a16="http://schemas.microsoft.com/office/drawing/2014/main" id="{C301471B-989A-236F-2FC3-BAE8E610FC01}"/>
              </a:ext>
            </a:extLst>
          </p:cNvPr>
          <p:cNvSpPr txBox="1"/>
          <p:nvPr/>
        </p:nvSpPr>
        <p:spPr>
          <a:xfrm>
            <a:off x="7368506" y="3271401"/>
            <a:ext cx="2161995" cy="923330"/>
          </a:xfrm>
          <a:prstGeom prst="rect">
            <a:avLst/>
          </a:prstGeom>
          <a:noFill/>
        </p:spPr>
        <p:txBody>
          <a:bodyPr wrap="square">
            <a:spAutoFit/>
          </a:bodyPr>
          <a:lstStyle/>
          <a:p>
            <a:pPr>
              <a:buNone/>
            </a:pPr>
            <a:r>
              <a:rPr lang="en-US" dirty="0"/>
              <a:t>Applied aggregations and created charts for insights.</a:t>
            </a:r>
          </a:p>
        </p:txBody>
      </p:sp>
      <p:cxnSp>
        <p:nvCxnSpPr>
          <p:cNvPr id="28" name="Straight Arrow Connector 27">
            <a:extLst>
              <a:ext uri="{FF2B5EF4-FFF2-40B4-BE49-F238E27FC236}">
                <a16:creationId xmlns:a16="http://schemas.microsoft.com/office/drawing/2014/main" id="{A486C2FE-6FD1-4416-0CE8-D247BF0EC3D3}"/>
              </a:ext>
            </a:extLst>
          </p:cNvPr>
          <p:cNvCxnSpPr>
            <a:cxnSpLocks/>
          </p:cNvCxnSpPr>
          <p:nvPr/>
        </p:nvCxnSpPr>
        <p:spPr>
          <a:xfrm>
            <a:off x="9539927" y="1249473"/>
            <a:ext cx="0" cy="4397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9" name="Rectangle: Rounded Corners 28">
            <a:extLst>
              <a:ext uri="{FF2B5EF4-FFF2-40B4-BE49-F238E27FC236}">
                <a16:creationId xmlns:a16="http://schemas.microsoft.com/office/drawing/2014/main" id="{32F988C2-A687-6F18-9A6B-B514EC00637C}"/>
              </a:ext>
            </a:extLst>
          </p:cNvPr>
          <p:cNvSpPr/>
          <p:nvPr/>
        </p:nvSpPr>
        <p:spPr>
          <a:xfrm>
            <a:off x="9758938" y="1285451"/>
            <a:ext cx="1913409" cy="754137"/>
          </a:xfrm>
          <a:prstGeom prst="roundRect">
            <a:avLst/>
          </a:prstGeom>
          <a:solidFill>
            <a:schemeClr val="bg2"/>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Step 5</a:t>
            </a:r>
            <a:endParaRPr lang="en-IN" dirty="0"/>
          </a:p>
        </p:txBody>
      </p:sp>
      <p:sp>
        <p:nvSpPr>
          <p:cNvPr id="30" name="Rectangle: Rounded Corners 29">
            <a:extLst>
              <a:ext uri="{FF2B5EF4-FFF2-40B4-BE49-F238E27FC236}">
                <a16:creationId xmlns:a16="http://schemas.microsoft.com/office/drawing/2014/main" id="{935848AC-E00D-033F-F5CF-5B6D30748D29}"/>
              </a:ext>
            </a:extLst>
          </p:cNvPr>
          <p:cNvSpPr/>
          <p:nvPr/>
        </p:nvSpPr>
        <p:spPr>
          <a:xfrm>
            <a:off x="9709954" y="2178641"/>
            <a:ext cx="1991412" cy="917728"/>
          </a:xfrm>
          <a:prstGeom prst="round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Insights &amp; Interpretation</a:t>
            </a:r>
          </a:p>
        </p:txBody>
      </p:sp>
      <p:sp>
        <p:nvSpPr>
          <p:cNvPr id="32" name="TextBox 31">
            <a:extLst>
              <a:ext uri="{FF2B5EF4-FFF2-40B4-BE49-F238E27FC236}">
                <a16:creationId xmlns:a16="http://schemas.microsoft.com/office/drawing/2014/main" id="{086FDE41-0004-0744-1101-44AE9723F619}"/>
              </a:ext>
            </a:extLst>
          </p:cNvPr>
          <p:cNvSpPr txBox="1"/>
          <p:nvPr/>
        </p:nvSpPr>
        <p:spPr>
          <a:xfrm>
            <a:off x="9659794" y="3264538"/>
            <a:ext cx="2538716" cy="923330"/>
          </a:xfrm>
          <a:prstGeom prst="rect">
            <a:avLst/>
          </a:prstGeom>
          <a:noFill/>
        </p:spPr>
        <p:txBody>
          <a:bodyPr wrap="square">
            <a:spAutoFit/>
          </a:bodyPr>
          <a:lstStyle/>
          <a:p>
            <a:pPr>
              <a:buNone/>
            </a:pPr>
            <a:r>
              <a:rPr lang="en-US" dirty="0"/>
              <a:t>Identified trends, patterns, and business insights.</a:t>
            </a:r>
          </a:p>
        </p:txBody>
      </p:sp>
    </p:spTree>
    <p:extLst>
      <p:ext uri="{BB962C8B-B14F-4D97-AF65-F5344CB8AC3E}">
        <p14:creationId xmlns:p14="http://schemas.microsoft.com/office/powerpoint/2010/main" val="3047183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AE3EC7-A7B5-3C86-9D4D-326C911C8B60}"/>
              </a:ext>
            </a:extLst>
          </p:cNvPr>
          <p:cNvSpPr txBox="1"/>
          <p:nvPr/>
        </p:nvSpPr>
        <p:spPr>
          <a:xfrm>
            <a:off x="380011" y="380620"/>
            <a:ext cx="9566787" cy="590931"/>
          </a:xfrm>
          <a:prstGeom prst="rect">
            <a:avLst/>
          </a:prstGeom>
          <a:noFill/>
        </p:spPr>
        <p:txBody>
          <a:bodyPr wrap="square" rtlCol="0">
            <a:spAutoFit/>
          </a:bodyPr>
          <a:lstStyle/>
          <a:p>
            <a:pPr defTabSz="914400">
              <a:lnSpc>
                <a:spcPct val="90000"/>
              </a:lnSpc>
              <a:spcBef>
                <a:spcPct val="0"/>
              </a:spcBef>
            </a:pPr>
            <a:r>
              <a:rPr lang="en-IN" sz="3600" dirty="0"/>
              <a:t>Sales Performance &amp; Customer </a:t>
            </a:r>
            <a:r>
              <a:rPr lang="en-IN" sz="3600" dirty="0" err="1"/>
              <a:t>Behavior</a:t>
            </a:r>
            <a:endParaRPr lang="en-IN" sz="3600" cap="all" dirty="0">
              <a:latin typeface="+mj-lt"/>
              <a:ea typeface="+mj-ea"/>
              <a:cs typeface="+mj-cs"/>
            </a:endParaRPr>
          </a:p>
        </p:txBody>
      </p:sp>
      <p:sp>
        <p:nvSpPr>
          <p:cNvPr id="5" name="Rectangle 1">
            <a:extLst>
              <a:ext uri="{FF2B5EF4-FFF2-40B4-BE49-F238E27FC236}">
                <a16:creationId xmlns:a16="http://schemas.microsoft.com/office/drawing/2014/main" id="{3D05B902-B165-288A-76A5-789B3D71D54D}"/>
              </a:ext>
            </a:extLst>
          </p:cNvPr>
          <p:cNvSpPr>
            <a:spLocks noChangeArrowheads="1"/>
          </p:cNvSpPr>
          <p:nvPr/>
        </p:nvSpPr>
        <p:spPr bwMode="auto">
          <a:xfrm>
            <a:off x="499620" y="1299712"/>
            <a:ext cx="643850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United States leads overall sales</a:t>
            </a:r>
            <a:r>
              <a:rPr kumimoji="0" lang="en-US" altLang="en-US" sz="1800" b="0" i="0" u="none" strike="noStrike" cap="none" normalizeH="0" baseline="0" dirty="0">
                <a:ln>
                  <a:noFill/>
                </a:ln>
                <a:solidFill>
                  <a:schemeClr val="tx1"/>
                </a:solidFill>
                <a:effectLst/>
                <a:latin typeface="Arial" panose="020B0604020202020204" pitchFamily="34" charset="0"/>
              </a:rPr>
              <a:t>, contributing the largest share of total revenue across all regions.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Repeat purchase trends suggest a loyal customer base</a:t>
            </a:r>
            <a:r>
              <a:rPr kumimoji="0" lang="en-US" altLang="en-US" sz="1800" b="0" i="0" u="none" strike="noStrike" cap="none" normalizeH="0" baseline="0" dirty="0">
                <a:ln>
                  <a:noFill/>
                </a:ln>
                <a:solidFill>
                  <a:schemeClr val="tx1"/>
                </a:solidFill>
                <a:effectLst/>
                <a:latin typeface="Arial" panose="020B0604020202020204" pitchFamily="34" charset="0"/>
              </a:rPr>
              <a:t>, with certain users consistently contributing to revenue growth.</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Customer spending patterns differ widely by country</a:t>
            </a:r>
            <a:r>
              <a:rPr kumimoji="0" lang="en-US" altLang="en-US" sz="1800" b="0" i="0" u="none" strike="noStrike" cap="none" normalizeH="0" baseline="0" dirty="0">
                <a:ln>
                  <a:noFill/>
                </a:ln>
                <a:solidFill>
                  <a:schemeClr val="tx1"/>
                </a:solidFill>
                <a:effectLst/>
                <a:latin typeface="Arial" panose="020B0604020202020204" pitchFamily="34" charset="0"/>
              </a:rPr>
              <a:t>, indicating strong opportunities in high-value but under-targeted markets. </a:t>
            </a:r>
          </a:p>
        </p:txBody>
      </p:sp>
      <p:pic>
        <p:nvPicPr>
          <p:cNvPr id="6" name="Google Shape;520;p60" title="Chart">
            <a:extLst>
              <a:ext uri="{FF2B5EF4-FFF2-40B4-BE49-F238E27FC236}">
                <a16:creationId xmlns:a16="http://schemas.microsoft.com/office/drawing/2014/main" id="{C98880A7-0AEA-4219-4368-94B9F1C2C9CC}"/>
              </a:ext>
            </a:extLst>
          </p:cNvPr>
          <p:cNvPicPr preferRelativeResize="0"/>
          <p:nvPr/>
        </p:nvPicPr>
        <p:blipFill>
          <a:blip r:embed="rId2">
            <a:alphaModFix/>
          </a:blip>
          <a:stretch>
            <a:fillRect/>
          </a:stretch>
        </p:blipFill>
        <p:spPr>
          <a:xfrm>
            <a:off x="6853286" y="1299712"/>
            <a:ext cx="4595821" cy="3026004"/>
          </a:xfrm>
          <a:prstGeom prst="rect">
            <a:avLst/>
          </a:prstGeom>
          <a:noFill/>
          <a:ln>
            <a:noFill/>
          </a:ln>
        </p:spPr>
      </p:pic>
    </p:spTree>
    <p:extLst>
      <p:ext uri="{BB962C8B-B14F-4D97-AF65-F5344CB8AC3E}">
        <p14:creationId xmlns:p14="http://schemas.microsoft.com/office/powerpoint/2010/main" val="3928353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B161169-DE5A-EB1C-9E6E-6C5491B4A2CF}"/>
              </a:ext>
            </a:extLst>
          </p:cNvPr>
          <p:cNvSpPr txBox="1"/>
          <p:nvPr/>
        </p:nvSpPr>
        <p:spPr>
          <a:xfrm>
            <a:off x="380011" y="380620"/>
            <a:ext cx="9566787" cy="590931"/>
          </a:xfrm>
          <a:prstGeom prst="rect">
            <a:avLst/>
          </a:prstGeom>
          <a:noFill/>
        </p:spPr>
        <p:txBody>
          <a:bodyPr wrap="square" rtlCol="0">
            <a:spAutoFit/>
          </a:bodyPr>
          <a:lstStyle/>
          <a:p>
            <a:pPr defTabSz="914400">
              <a:lnSpc>
                <a:spcPct val="90000"/>
              </a:lnSpc>
              <a:spcBef>
                <a:spcPct val="0"/>
              </a:spcBef>
            </a:pPr>
            <a:r>
              <a:rPr lang="en-US" sz="3600" dirty="0"/>
              <a:t>Customer Retention Drives Revenue Growth</a:t>
            </a:r>
            <a:endParaRPr lang="en-IN" sz="3600" cap="all" dirty="0">
              <a:latin typeface="+mj-lt"/>
              <a:ea typeface="+mj-ea"/>
              <a:cs typeface="+mj-cs"/>
            </a:endParaRPr>
          </a:p>
        </p:txBody>
      </p:sp>
      <p:sp>
        <p:nvSpPr>
          <p:cNvPr id="7" name="TextBox 6">
            <a:extLst>
              <a:ext uri="{FF2B5EF4-FFF2-40B4-BE49-F238E27FC236}">
                <a16:creationId xmlns:a16="http://schemas.microsoft.com/office/drawing/2014/main" id="{09B45F78-6C76-5259-CFAA-DF80438C218E}"/>
              </a:ext>
            </a:extLst>
          </p:cNvPr>
          <p:cNvSpPr txBox="1"/>
          <p:nvPr/>
        </p:nvSpPr>
        <p:spPr>
          <a:xfrm>
            <a:off x="380011" y="1000422"/>
            <a:ext cx="9566787" cy="424732"/>
          </a:xfrm>
          <a:prstGeom prst="rect">
            <a:avLst/>
          </a:prstGeom>
          <a:noFill/>
        </p:spPr>
        <p:txBody>
          <a:bodyPr wrap="square" rtlCol="0">
            <a:spAutoFit/>
          </a:bodyPr>
          <a:lstStyle/>
          <a:p>
            <a:pPr defTabSz="914400">
              <a:lnSpc>
                <a:spcPct val="90000"/>
              </a:lnSpc>
              <a:spcBef>
                <a:spcPct val="0"/>
              </a:spcBef>
            </a:pPr>
            <a:r>
              <a:rPr lang="en-US" sz="2400" dirty="0"/>
              <a:t>“Revenue growth is driven by frequency, not basket size.”</a:t>
            </a:r>
            <a:endParaRPr lang="en-IN" sz="2400" cap="all" dirty="0">
              <a:latin typeface="+mj-lt"/>
              <a:ea typeface="+mj-ea"/>
              <a:cs typeface="+mj-cs"/>
            </a:endParaRPr>
          </a:p>
        </p:txBody>
      </p:sp>
      <p:sp>
        <p:nvSpPr>
          <p:cNvPr id="8" name="Rectangle 1">
            <a:extLst>
              <a:ext uri="{FF2B5EF4-FFF2-40B4-BE49-F238E27FC236}">
                <a16:creationId xmlns:a16="http://schemas.microsoft.com/office/drawing/2014/main" id="{0203189F-B1C9-E2BE-EB3F-BCCB0820DF0B}"/>
              </a:ext>
            </a:extLst>
          </p:cNvPr>
          <p:cNvSpPr>
            <a:spLocks noChangeArrowheads="1"/>
          </p:cNvSpPr>
          <p:nvPr/>
        </p:nvSpPr>
        <p:spPr bwMode="auto">
          <a:xfrm rot="10800000" flipV="1">
            <a:off x="380011" y="1613382"/>
            <a:ext cx="684665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Repeat customers generate more transactions</a:t>
            </a:r>
            <a:r>
              <a:rPr kumimoji="0" lang="en-US" altLang="en-US" sz="1800" b="0" i="0" u="none" strike="noStrike" cap="none" normalizeH="0" baseline="0" dirty="0">
                <a:ln>
                  <a:noFill/>
                </a:ln>
                <a:solidFill>
                  <a:schemeClr val="tx1"/>
                </a:solidFill>
                <a:effectLst/>
                <a:latin typeface="Arial" panose="020B0604020202020204" pitchFamily="34" charset="0"/>
              </a:rPr>
              <a:t>, with long-term users averaging </a:t>
            </a:r>
            <a:r>
              <a:rPr kumimoji="0" lang="en-US" altLang="en-US" sz="1800" b="1" i="0" u="none" strike="noStrike" cap="none" normalizeH="0" baseline="0" dirty="0">
                <a:ln>
                  <a:noFill/>
                </a:ln>
                <a:solidFill>
                  <a:schemeClr val="tx1"/>
                </a:solidFill>
                <a:effectLst/>
                <a:latin typeface="Arial" panose="020B0604020202020204" pitchFamily="34" charset="0"/>
              </a:rPr>
              <a:t>11.06 orders</a:t>
            </a:r>
            <a:r>
              <a:rPr kumimoji="0" lang="en-US" altLang="en-US" sz="1800" b="0" i="0" u="none" strike="noStrike" cap="none" normalizeH="0" baseline="0" dirty="0">
                <a:ln>
                  <a:noFill/>
                </a:ln>
                <a:solidFill>
                  <a:schemeClr val="tx1"/>
                </a:solidFill>
                <a:effectLst/>
                <a:latin typeface="Arial" panose="020B0604020202020204" pitchFamily="34" charset="0"/>
              </a:rPr>
              <a:t> compared to </a:t>
            </a:r>
            <a:r>
              <a:rPr kumimoji="0" lang="en-US" altLang="en-US" sz="1800" b="1" i="0" u="none" strike="noStrike" cap="none" normalizeH="0" baseline="0" dirty="0">
                <a:ln>
                  <a:noFill/>
                </a:ln>
                <a:solidFill>
                  <a:schemeClr val="tx1"/>
                </a:solidFill>
                <a:effectLst/>
                <a:latin typeface="Arial" panose="020B0604020202020204" pitchFamily="34" charset="0"/>
              </a:rPr>
              <a:t>6.00 orders</a:t>
            </a:r>
            <a:r>
              <a:rPr kumimoji="0" lang="en-US" altLang="en-US" sz="1800" b="0" i="0" u="none" strike="noStrike" cap="none" normalizeH="0" baseline="0" dirty="0">
                <a:ln>
                  <a:noFill/>
                </a:ln>
                <a:solidFill>
                  <a:schemeClr val="tx1"/>
                </a:solidFill>
                <a:effectLst/>
                <a:latin typeface="Arial" panose="020B0604020202020204" pitchFamily="34" charset="0"/>
              </a:rPr>
              <a:t> for new customers (almost </a:t>
            </a:r>
            <a:r>
              <a:rPr kumimoji="0" lang="en-US" altLang="en-US" sz="1800" b="1" i="0" u="none" strike="noStrike" cap="none" normalizeH="0" baseline="0" dirty="0">
                <a:ln>
                  <a:noFill/>
                </a:ln>
                <a:solidFill>
                  <a:schemeClr val="tx1"/>
                </a:solidFill>
                <a:effectLst/>
                <a:latin typeface="Arial" panose="020B0604020202020204" pitchFamily="34" charset="0"/>
              </a:rPr>
              <a:t>2x higher</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Spending per order stays consistent across segments</a:t>
            </a:r>
            <a:r>
              <a:rPr kumimoji="0" lang="en-US" altLang="en-US" sz="1800" b="0" i="0" u="none" strike="noStrike" cap="none" normalizeH="0" baseline="0" dirty="0">
                <a:ln>
                  <a:noFill/>
                </a:ln>
                <a:solidFill>
                  <a:schemeClr val="tx1"/>
                </a:solidFill>
                <a:effectLst/>
                <a:latin typeface="Arial" panose="020B0604020202020204" pitchFamily="34" charset="0"/>
              </a:rPr>
              <a:t>, with Average Order Value ranging narrowly between </a:t>
            </a:r>
            <a:r>
              <a:rPr kumimoji="0" lang="en-US" altLang="en-US" sz="1800" b="1" i="0" u="none" strike="noStrike" cap="none" normalizeH="0" baseline="0" dirty="0">
                <a:ln>
                  <a:noFill/>
                </a:ln>
                <a:solidFill>
                  <a:schemeClr val="tx1"/>
                </a:solidFill>
                <a:effectLst/>
                <a:latin typeface="Arial" panose="020B0604020202020204" pitchFamily="34" charset="0"/>
              </a:rPr>
              <a:t>$7.66 and $8.27</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Customer lifetime value increases with tenure</a:t>
            </a:r>
            <a:r>
              <a:rPr kumimoji="0" lang="en-US" altLang="en-US" sz="1800" b="0" i="0" u="none" strike="noStrike" cap="none" normalizeH="0" baseline="0" dirty="0">
                <a:ln>
                  <a:noFill/>
                </a:ln>
                <a:solidFill>
                  <a:schemeClr val="tx1"/>
                </a:solidFill>
                <a:effectLst/>
                <a:latin typeface="Arial" panose="020B0604020202020204" pitchFamily="34" charset="0"/>
              </a:rPr>
              <a:t>, as total spend rises from </a:t>
            </a:r>
            <a:r>
              <a:rPr kumimoji="0" lang="en-US" altLang="en-US" sz="1800" b="1" i="0" u="none" strike="noStrike" cap="none" normalizeH="0" baseline="0" dirty="0">
                <a:ln>
                  <a:noFill/>
                </a:ln>
                <a:solidFill>
                  <a:schemeClr val="tx1"/>
                </a:solidFill>
                <a:effectLst/>
                <a:latin typeface="Arial" panose="020B0604020202020204" pitchFamily="34" charset="0"/>
              </a:rPr>
              <a:t>$50 (new customers)</a:t>
            </a:r>
            <a:r>
              <a:rPr kumimoji="0" lang="en-US" altLang="en-US" sz="1800" b="0" i="0" u="none" strike="noStrike" cap="none" normalizeH="0" baseline="0" dirty="0">
                <a:ln>
                  <a:noFill/>
                </a:ln>
                <a:solidFill>
                  <a:schemeClr val="tx1"/>
                </a:solidFill>
                <a:effectLst/>
                <a:latin typeface="Arial" panose="020B0604020202020204" pitchFamily="34" charset="0"/>
              </a:rPr>
              <a:t> to </a:t>
            </a:r>
            <a:r>
              <a:rPr kumimoji="0" lang="en-US" altLang="en-US" sz="1800" b="1" i="0" u="none" strike="noStrike" cap="none" normalizeH="0" baseline="0" dirty="0">
                <a:ln>
                  <a:noFill/>
                </a:ln>
                <a:solidFill>
                  <a:schemeClr val="tx1"/>
                </a:solidFill>
                <a:effectLst/>
                <a:latin typeface="Arial" panose="020B0604020202020204" pitchFamily="34" charset="0"/>
              </a:rPr>
              <a:t>$75 (mid-term)</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$85 (long-term customers)</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9" name="Google Shape;538;p62" title="Chart">
            <a:extLst>
              <a:ext uri="{FF2B5EF4-FFF2-40B4-BE49-F238E27FC236}">
                <a16:creationId xmlns:a16="http://schemas.microsoft.com/office/drawing/2014/main" id="{7B916FEA-EAC8-2A27-171D-7BB37D25B79E}"/>
              </a:ext>
            </a:extLst>
          </p:cNvPr>
          <p:cNvPicPr preferRelativeResize="0"/>
          <p:nvPr/>
        </p:nvPicPr>
        <p:blipFill>
          <a:blip r:embed="rId2">
            <a:alphaModFix/>
          </a:blip>
          <a:stretch>
            <a:fillRect/>
          </a:stretch>
        </p:blipFill>
        <p:spPr>
          <a:xfrm>
            <a:off x="7226664" y="1579689"/>
            <a:ext cx="4585326" cy="2835260"/>
          </a:xfrm>
          <a:prstGeom prst="rect">
            <a:avLst/>
          </a:prstGeom>
          <a:noFill/>
          <a:ln>
            <a:noFill/>
          </a:ln>
        </p:spPr>
      </p:pic>
    </p:spTree>
    <p:extLst>
      <p:ext uri="{BB962C8B-B14F-4D97-AF65-F5344CB8AC3E}">
        <p14:creationId xmlns:p14="http://schemas.microsoft.com/office/powerpoint/2010/main" val="1400877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76CCEED-F607-5E48-64A0-A7D03B0C5671}"/>
              </a:ext>
            </a:extLst>
          </p:cNvPr>
          <p:cNvSpPr txBox="1"/>
          <p:nvPr/>
        </p:nvSpPr>
        <p:spPr>
          <a:xfrm>
            <a:off x="346434" y="479924"/>
            <a:ext cx="8929541" cy="646331"/>
          </a:xfrm>
          <a:prstGeom prst="rect">
            <a:avLst/>
          </a:prstGeom>
          <a:noFill/>
        </p:spPr>
        <p:txBody>
          <a:bodyPr wrap="square">
            <a:spAutoFit/>
          </a:bodyPr>
          <a:lstStyle/>
          <a:p>
            <a:r>
              <a:rPr lang="en-IN" sz="3600" dirty="0"/>
              <a:t>Genre Concentration &amp; Market Opportunity</a:t>
            </a:r>
          </a:p>
        </p:txBody>
      </p:sp>
      <p:sp>
        <p:nvSpPr>
          <p:cNvPr id="13" name="TextBox 12">
            <a:extLst>
              <a:ext uri="{FF2B5EF4-FFF2-40B4-BE49-F238E27FC236}">
                <a16:creationId xmlns:a16="http://schemas.microsoft.com/office/drawing/2014/main" id="{44647F2D-F0A5-E0FC-6A41-E63F223C6DA2}"/>
              </a:ext>
            </a:extLst>
          </p:cNvPr>
          <p:cNvSpPr txBox="1"/>
          <p:nvPr/>
        </p:nvSpPr>
        <p:spPr>
          <a:xfrm>
            <a:off x="506690" y="1361926"/>
            <a:ext cx="6591693" cy="3693319"/>
          </a:xfrm>
          <a:prstGeom prst="rect">
            <a:avLst/>
          </a:prstGeom>
          <a:noFill/>
        </p:spPr>
        <p:txBody>
          <a:bodyPr wrap="square">
            <a:spAutoFit/>
          </a:bodyPr>
          <a:lstStyle/>
          <a:p>
            <a:pPr>
              <a:buFont typeface="Arial" panose="020B0604020202020204" pitchFamily="34" charset="0"/>
              <a:buChar char="•"/>
            </a:pPr>
            <a:r>
              <a:rPr lang="en-US" b="1" dirty="0"/>
              <a:t>Rock music dominates revenue</a:t>
            </a:r>
            <a:r>
              <a:rPr lang="en-US" dirty="0"/>
              <a:t>, contributing approximately </a:t>
            </a:r>
            <a:r>
              <a:rPr lang="en-US" b="1" dirty="0"/>
              <a:t>68.6% ($2053.26)</a:t>
            </a:r>
            <a:r>
              <a:rPr lang="en-US" dirty="0"/>
              <a:t> of total sales across all regions. </a:t>
            </a:r>
          </a:p>
          <a:p>
            <a:pPr>
              <a:buFont typeface="Arial" panose="020B0604020202020204" pitchFamily="34" charset="0"/>
              <a:buChar char="•"/>
            </a:pPr>
            <a:endParaRPr lang="en-US" dirty="0"/>
          </a:p>
          <a:p>
            <a:pPr>
              <a:buFont typeface="Arial" panose="020B0604020202020204" pitchFamily="34" charset="0"/>
              <a:buChar char="•"/>
            </a:pPr>
            <a:r>
              <a:rPr lang="en-US" b="1" dirty="0"/>
              <a:t>Metal ($484.11 | 16.2%) and Alternative/Punk (~10.7%)</a:t>
            </a:r>
            <a:r>
              <a:rPr lang="en-US" dirty="0"/>
              <a:t> form the secondary tier, showing consistent but significantly lower performance than Rock. </a:t>
            </a:r>
          </a:p>
          <a:p>
            <a:pPr lvl="1">
              <a:buFont typeface="Arial" panose="020B0604020202020204" pitchFamily="34" charset="0"/>
              <a:buChar char="•"/>
            </a:pPr>
            <a:endParaRPr lang="en-US" dirty="0"/>
          </a:p>
          <a:p>
            <a:pPr>
              <a:buFont typeface="Arial" panose="020B0604020202020204" pitchFamily="34" charset="0"/>
              <a:buChar char="•"/>
            </a:pPr>
            <a:r>
              <a:rPr lang="en-US" b="1" dirty="0"/>
              <a:t>All other genres combined contribute less than 15%</a:t>
            </a:r>
            <a:r>
              <a:rPr lang="en-US" dirty="0"/>
              <a:t>, with categories like </a:t>
            </a:r>
            <a:r>
              <a:rPr lang="en-US" b="1" dirty="0"/>
              <a:t>Jazz, Latin, Blues, and Easy Listening each below ~2%</a:t>
            </a:r>
            <a:r>
              <a:rPr lang="en-US" dirty="0"/>
              <a:t>, indicating limited market penetration. </a:t>
            </a:r>
          </a:p>
          <a:p>
            <a:pPr>
              <a:buFont typeface="Arial" panose="020B0604020202020204" pitchFamily="34" charset="0"/>
              <a:buChar char="•"/>
            </a:pPr>
            <a:endParaRPr lang="en-US" dirty="0"/>
          </a:p>
          <a:p>
            <a:pPr>
              <a:buFont typeface="Arial" panose="020B0604020202020204" pitchFamily="34" charset="0"/>
              <a:buChar char="•"/>
            </a:pPr>
            <a:r>
              <a:rPr lang="en-US" dirty="0"/>
              <a:t>Revenue is highly concentrated in a single genre, creating both dependency risk and diversification opportunity.</a:t>
            </a:r>
          </a:p>
        </p:txBody>
      </p:sp>
      <p:pic>
        <p:nvPicPr>
          <p:cNvPr id="14" name="Google Shape;529;p61" title="Chart">
            <a:extLst>
              <a:ext uri="{FF2B5EF4-FFF2-40B4-BE49-F238E27FC236}">
                <a16:creationId xmlns:a16="http://schemas.microsoft.com/office/drawing/2014/main" id="{056C0345-EDB6-B55B-8F1F-56B04BE1CAD4}"/>
              </a:ext>
            </a:extLst>
          </p:cNvPr>
          <p:cNvPicPr preferRelativeResize="0"/>
          <p:nvPr/>
        </p:nvPicPr>
        <p:blipFill>
          <a:blip r:embed="rId2">
            <a:alphaModFix/>
          </a:blip>
          <a:stretch>
            <a:fillRect/>
          </a:stretch>
        </p:blipFill>
        <p:spPr>
          <a:xfrm>
            <a:off x="7098383" y="1361926"/>
            <a:ext cx="4702674" cy="2907811"/>
          </a:xfrm>
          <a:prstGeom prst="rect">
            <a:avLst/>
          </a:prstGeom>
          <a:noFill/>
          <a:ln>
            <a:noFill/>
          </a:ln>
        </p:spPr>
      </p:pic>
    </p:spTree>
    <p:extLst>
      <p:ext uri="{BB962C8B-B14F-4D97-AF65-F5344CB8AC3E}">
        <p14:creationId xmlns:p14="http://schemas.microsoft.com/office/powerpoint/2010/main" val="1368632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8820D34-52DB-2D5B-19B6-04563CC03617}"/>
              </a:ext>
            </a:extLst>
          </p:cNvPr>
          <p:cNvSpPr txBox="1"/>
          <p:nvPr/>
        </p:nvSpPr>
        <p:spPr>
          <a:xfrm>
            <a:off x="553825" y="366802"/>
            <a:ext cx="7902018" cy="646331"/>
          </a:xfrm>
          <a:prstGeom prst="rect">
            <a:avLst/>
          </a:prstGeom>
          <a:noFill/>
        </p:spPr>
        <p:txBody>
          <a:bodyPr wrap="square">
            <a:spAutoFit/>
          </a:bodyPr>
          <a:lstStyle/>
          <a:p>
            <a:r>
              <a:rPr lang="en-IN" sz="3600" dirty="0"/>
              <a:t>Churn Risk &amp; Market Prioritization</a:t>
            </a:r>
          </a:p>
        </p:txBody>
      </p:sp>
      <p:sp>
        <p:nvSpPr>
          <p:cNvPr id="10" name="TextBox 9">
            <a:extLst>
              <a:ext uri="{FF2B5EF4-FFF2-40B4-BE49-F238E27FC236}">
                <a16:creationId xmlns:a16="http://schemas.microsoft.com/office/drawing/2014/main" id="{C53D9886-30C2-E0E7-8981-B4F616433895}"/>
              </a:ext>
            </a:extLst>
          </p:cNvPr>
          <p:cNvSpPr txBox="1"/>
          <p:nvPr/>
        </p:nvSpPr>
        <p:spPr>
          <a:xfrm>
            <a:off x="648093" y="1192739"/>
            <a:ext cx="6846216" cy="3970318"/>
          </a:xfrm>
          <a:prstGeom prst="rect">
            <a:avLst/>
          </a:prstGeom>
          <a:noFill/>
        </p:spPr>
        <p:txBody>
          <a:bodyPr wrap="square">
            <a:spAutoFit/>
          </a:bodyPr>
          <a:lstStyle/>
          <a:p>
            <a:pPr marL="285750" indent="-285750">
              <a:buFont typeface="Arial" panose="020B0604020202020204" pitchFamily="34" charset="0"/>
              <a:buChar char="•"/>
            </a:pPr>
            <a:r>
              <a:rPr lang="en-US" b="1" dirty="0"/>
              <a:t>Customer churn is highest in the USA (~45–48%)</a:t>
            </a:r>
            <a:r>
              <a:rPr lang="en-US" dirty="0"/>
              <a:t>, with Canada following closely at similar levels, indicating saturation and competitive pressure in mature markets.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Several European markets show extreme churn spikes</a:t>
            </a:r>
            <a:r>
              <a:rPr lang="en-US" dirty="0"/>
              <a:t>, with countries like Italy (~81%) and Denmark (100%) signaling weak retention and possible product-market mismatch.</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Stable mid-range churn (40–55%) across multiple regions</a:t>
            </a:r>
            <a:r>
              <a:rPr lang="en-US" dirty="0"/>
              <a:t> suggests a consistent but improvable baseline customer experience.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Retention challenges vary significantly by region — a one-size-fits-all strategy will underperform.</a:t>
            </a:r>
          </a:p>
          <a:p>
            <a:pPr marL="285750" indent="-285750">
              <a:buFont typeface="Arial" panose="020B0604020202020204" pitchFamily="34" charset="0"/>
              <a:buChar char="•"/>
            </a:pPr>
            <a:endParaRPr lang="en-IN" dirty="0"/>
          </a:p>
        </p:txBody>
      </p:sp>
      <p:pic>
        <p:nvPicPr>
          <p:cNvPr id="11" name="Google Shape;547;p63" title="Chart">
            <a:extLst>
              <a:ext uri="{FF2B5EF4-FFF2-40B4-BE49-F238E27FC236}">
                <a16:creationId xmlns:a16="http://schemas.microsoft.com/office/drawing/2014/main" id="{C7272C56-C20D-8D36-47CC-D95D58BFA14A}"/>
              </a:ext>
            </a:extLst>
          </p:cNvPr>
          <p:cNvPicPr preferRelativeResize="0"/>
          <p:nvPr/>
        </p:nvPicPr>
        <p:blipFill>
          <a:blip r:embed="rId2">
            <a:alphaModFix/>
          </a:blip>
          <a:stretch>
            <a:fillRect/>
          </a:stretch>
        </p:blipFill>
        <p:spPr>
          <a:xfrm>
            <a:off x="7494308" y="1282044"/>
            <a:ext cx="4484669" cy="3271101"/>
          </a:xfrm>
          <a:prstGeom prst="rect">
            <a:avLst/>
          </a:prstGeom>
          <a:noFill/>
          <a:ln>
            <a:noFill/>
          </a:ln>
        </p:spPr>
      </p:pic>
    </p:spTree>
    <p:extLst>
      <p:ext uri="{BB962C8B-B14F-4D97-AF65-F5344CB8AC3E}">
        <p14:creationId xmlns:p14="http://schemas.microsoft.com/office/powerpoint/2010/main" val="3149474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B8CA1-B710-2E7D-DDE8-D2416EBD3FA4}"/>
              </a:ext>
            </a:extLst>
          </p:cNvPr>
          <p:cNvSpPr>
            <a:spLocks noGrp="1"/>
          </p:cNvSpPr>
          <p:nvPr>
            <p:ph type="title"/>
          </p:nvPr>
        </p:nvSpPr>
        <p:spPr>
          <a:xfrm>
            <a:off x="417910" y="347319"/>
            <a:ext cx="9603275" cy="1049235"/>
          </a:xfrm>
        </p:spPr>
        <p:txBody>
          <a:bodyPr/>
          <a:lstStyle/>
          <a:p>
            <a:r>
              <a:rPr lang="en-US" dirty="0"/>
              <a:t>Strategic Recommendations for Growth &amp; Retention</a:t>
            </a:r>
            <a:endParaRPr lang="en-IN" dirty="0"/>
          </a:p>
        </p:txBody>
      </p:sp>
      <p:sp>
        <p:nvSpPr>
          <p:cNvPr id="3" name="Content Placeholder 2">
            <a:extLst>
              <a:ext uri="{FF2B5EF4-FFF2-40B4-BE49-F238E27FC236}">
                <a16:creationId xmlns:a16="http://schemas.microsoft.com/office/drawing/2014/main" id="{1164D085-BDA0-2CEC-561A-19996F693A2F}"/>
              </a:ext>
            </a:extLst>
          </p:cNvPr>
          <p:cNvSpPr>
            <a:spLocks noGrp="1"/>
          </p:cNvSpPr>
          <p:nvPr>
            <p:ph sz="quarter" idx="13"/>
          </p:nvPr>
        </p:nvSpPr>
        <p:spPr>
          <a:xfrm>
            <a:off x="576470" y="1466128"/>
            <a:ext cx="10394707" cy="3311189"/>
          </a:xfrm>
        </p:spPr>
        <p:txBody>
          <a:bodyPr>
            <a:noAutofit/>
          </a:bodyPr>
          <a:lstStyle/>
          <a:p>
            <a:pPr marL="0" indent="0">
              <a:buNone/>
            </a:pPr>
            <a:r>
              <a:rPr lang="en-US" sz="1800" b="1" dirty="0"/>
              <a:t>Double Down on High-Value Markets</a:t>
            </a:r>
          </a:p>
          <a:p>
            <a:r>
              <a:rPr lang="en-US" sz="1800" b="1" dirty="0"/>
              <a:t>Action:</a:t>
            </a:r>
            <a:r>
              <a:rPr lang="en-US" sz="1800" dirty="0"/>
              <a:t> Increase targeted campaigns in the United States and Canada </a:t>
            </a:r>
          </a:p>
          <a:p>
            <a:r>
              <a:rPr lang="en-US" sz="1800" b="1" dirty="0"/>
              <a:t>Why:</a:t>
            </a:r>
            <a:r>
              <a:rPr lang="en-US" sz="1800" dirty="0"/>
              <a:t> Highest revenue contribution + strong repeat customers </a:t>
            </a:r>
          </a:p>
          <a:p>
            <a:r>
              <a:rPr lang="en-US" sz="1800" b="1" dirty="0"/>
              <a:t>Impact:</a:t>
            </a:r>
            <a:r>
              <a:rPr lang="en-US" sz="1800" dirty="0"/>
              <a:t> +15–20% revenue growth potential </a:t>
            </a:r>
          </a:p>
          <a:p>
            <a:endParaRPr lang="en-US" sz="1800" dirty="0"/>
          </a:p>
          <a:p>
            <a:pPr marL="0" indent="0">
              <a:buNone/>
            </a:pPr>
            <a:r>
              <a:rPr lang="en-US" sz="1800" b="1" dirty="0"/>
              <a:t> Introduce Tiered Pricing for Price-Sensitive Regions</a:t>
            </a:r>
          </a:p>
          <a:p>
            <a:r>
              <a:rPr lang="en-US" sz="1800" b="1" dirty="0"/>
              <a:t>Action:</a:t>
            </a:r>
            <a:r>
              <a:rPr lang="en-US" sz="1800" dirty="0"/>
              <a:t> Launch budget-friendly bundles and regional pricing </a:t>
            </a:r>
          </a:p>
          <a:p>
            <a:r>
              <a:rPr lang="en-US" sz="1800" b="1" dirty="0"/>
              <a:t>Why:</a:t>
            </a:r>
            <a:r>
              <a:rPr lang="en-US" sz="1800" dirty="0"/>
              <a:t> Improves accessibility in lower-spending markets </a:t>
            </a:r>
          </a:p>
          <a:p>
            <a:r>
              <a:rPr lang="en-US" sz="1800" b="1" dirty="0"/>
              <a:t>Impact:</a:t>
            </a:r>
            <a:r>
              <a:rPr lang="en-US" sz="1800" dirty="0"/>
              <a:t> Expands customer base &amp; boosts conversion rates </a:t>
            </a:r>
          </a:p>
          <a:p>
            <a:endParaRPr lang="en-IN" sz="1800" dirty="0"/>
          </a:p>
        </p:txBody>
      </p:sp>
    </p:spTree>
    <p:extLst>
      <p:ext uri="{BB962C8B-B14F-4D97-AF65-F5344CB8AC3E}">
        <p14:creationId xmlns:p14="http://schemas.microsoft.com/office/powerpoint/2010/main" val="755190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8672C-2BE4-685F-D3C3-76BCC0BF1C5D}"/>
              </a:ext>
            </a:extLst>
          </p:cNvPr>
          <p:cNvSpPr>
            <a:spLocks noGrp="1"/>
          </p:cNvSpPr>
          <p:nvPr>
            <p:ph sz="quarter" idx="13"/>
          </p:nvPr>
        </p:nvSpPr>
        <p:spPr>
          <a:xfrm>
            <a:off x="898646" y="542709"/>
            <a:ext cx="10394707" cy="3311189"/>
          </a:xfrm>
        </p:spPr>
        <p:txBody>
          <a:bodyPr>
            <a:noAutofit/>
          </a:bodyPr>
          <a:lstStyle/>
          <a:p>
            <a:pPr marL="0" indent="0">
              <a:buNone/>
            </a:pPr>
            <a:r>
              <a:rPr lang="en-US" b="1" dirty="0"/>
              <a:t>Build Strong Customer Loyalty Programs</a:t>
            </a:r>
          </a:p>
          <a:p>
            <a:r>
              <a:rPr lang="en-US" b="1" dirty="0"/>
              <a:t>Action:</a:t>
            </a:r>
            <a:r>
              <a:rPr lang="en-US" dirty="0"/>
              <a:t> Rewards, subscriptions, and personalized offers </a:t>
            </a:r>
          </a:p>
          <a:p>
            <a:r>
              <a:rPr lang="en-US" b="1" dirty="0"/>
              <a:t>Why:</a:t>
            </a:r>
            <a:r>
              <a:rPr lang="en-US" dirty="0"/>
              <a:t> Long-term users generate ~2x more orders </a:t>
            </a:r>
          </a:p>
          <a:p>
            <a:r>
              <a:rPr lang="en-US" b="1" dirty="0"/>
              <a:t>Impact:</a:t>
            </a:r>
            <a:r>
              <a:rPr lang="en-US" dirty="0"/>
              <a:t> Higher retention &amp; lifetime value (LTV) </a:t>
            </a:r>
            <a:br>
              <a:rPr lang="en-US" dirty="0"/>
            </a:br>
            <a:endParaRPr lang="en-US" dirty="0"/>
          </a:p>
          <a:p>
            <a:pPr marL="0" indent="0">
              <a:buNone/>
            </a:pPr>
            <a:r>
              <a:rPr lang="en-US" b="1" dirty="0"/>
              <a:t>4. Focus on High-Performing Genres</a:t>
            </a:r>
          </a:p>
          <a:p>
            <a:r>
              <a:rPr lang="en-US" b="1" dirty="0"/>
              <a:t>Action:</a:t>
            </a:r>
            <a:r>
              <a:rPr lang="en-US" dirty="0"/>
              <a:t> Prioritize Rock, Metal, and Alternative/Punk catalogs </a:t>
            </a:r>
          </a:p>
          <a:p>
            <a:r>
              <a:rPr lang="en-US" b="1" dirty="0"/>
              <a:t>Why:</a:t>
            </a:r>
            <a:r>
              <a:rPr lang="en-US" dirty="0"/>
              <a:t> Rock alone contributes ~68% of total sales </a:t>
            </a:r>
          </a:p>
          <a:p>
            <a:r>
              <a:rPr lang="en-US" b="1" dirty="0"/>
              <a:t>Impact:</a:t>
            </a:r>
            <a:r>
              <a:rPr lang="en-US" dirty="0"/>
              <a:t> Maximized ROI on inventory &amp; promotions</a:t>
            </a:r>
          </a:p>
          <a:p>
            <a:endParaRPr lang="en-US" dirty="0"/>
          </a:p>
          <a:p>
            <a:endParaRPr lang="en-US" dirty="0"/>
          </a:p>
          <a:p>
            <a:endParaRPr lang="en-IN" dirty="0"/>
          </a:p>
        </p:txBody>
      </p:sp>
    </p:spTree>
    <p:extLst>
      <p:ext uri="{BB962C8B-B14F-4D97-AF65-F5344CB8AC3E}">
        <p14:creationId xmlns:p14="http://schemas.microsoft.com/office/powerpoint/2010/main" val="2473453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6ECCB0-44AF-5332-9B97-566FC21F5504}"/>
              </a:ext>
            </a:extLst>
          </p:cNvPr>
          <p:cNvSpPr>
            <a:spLocks noGrp="1"/>
          </p:cNvSpPr>
          <p:nvPr>
            <p:ph sz="quarter" idx="13"/>
          </p:nvPr>
        </p:nvSpPr>
        <p:spPr>
          <a:xfrm>
            <a:off x="437321" y="522831"/>
            <a:ext cx="10394707" cy="3311189"/>
          </a:xfrm>
        </p:spPr>
        <p:txBody>
          <a:bodyPr/>
          <a:lstStyle/>
          <a:p>
            <a:r>
              <a:rPr lang="en-US" b="1" dirty="0"/>
              <a:t>5. Reduce Churn in High-Risk Markets</a:t>
            </a:r>
          </a:p>
          <a:p>
            <a:r>
              <a:rPr lang="en-US" b="1" dirty="0"/>
              <a:t>Action:</a:t>
            </a:r>
            <a:r>
              <a:rPr lang="en-US" dirty="0"/>
              <a:t> Retention campaigns in Italy, Denmark, and other high-churn regions </a:t>
            </a:r>
          </a:p>
          <a:p>
            <a:r>
              <a:rPr lang="en-US" b="1" dirty="0"/>
              <a:t>Why:</a:t>
            </a:r>
            <a:r>
              <a:rPr lang="en-US" dirty="0"/>
              <a:t> Churn rates exceed 80–100% in some markets </a:t>
            </a:r>
          </a:p>
          <a:p>
            <a:r>
              <a:rPr lang="en-US" b="1" dirty="0"/>
              <a:t>Impact:</a:t>
            </a:r>
            <a:r>
              <a:rPr lang="en-US" dirty="0"/>
              <a:t> Stabilized revenue &amp; improved customer base </a:t>
            </a:r>
          </a:p>
          <a:p>
            <a:pPr marL="0" indent="0">
              <a:buNone/>
            </a:pPr>
            <a:r>
              <a:rPr lang="en-US" b="1" dirty="0"/>
              <a:t>“Growth will come from scaling what works (top markets &amp; genres) while fixing retention gaps in high-churn regions.</a:t>
            </a:r>
          </a:p>
          <a:p>
            <a:endParaRPr lang="en-IN" dirty="0"/>
          </a:p>
        </p:txBody>
      </p:sp>
    </p:spTree>
    <p:extLst>
      <p:ext uri="{BB962C8B-B14F-4D97-AF65-F5344CB8AC3E}">
        <p14:creationId xmlns:p14="http://schemas.microsoft.com/office/powerpoint/2010/main" val="3199806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A6D25-50D1-5258-C058-41642B192500}"/>
              </a:ext>
            </a:extLst>
          </p:cNvPr>
          <p:cNvSpPr>
            <a:spLocks noGrp="1"/>
          </p:cNvSpPr>
          <p:nvPr>
            <p:ph type="title"/>
          </p:nvPr>
        </p:nvSpPr>
        <p:spPr>
          <a:xfrm>
            <a:off x="546652" y="297624"/>
            <a:ext cx="9603275" cy="1049235"/>
          </a:xfrm>
        </p:spPr>
        <p:txBody>
          <a:bodyPr>
            <a:normAutofit/>
          </a:bodyPr>
          <a:lstStyle/>
          <a:p>
            <a:r>
              <a:rPr lang="en" sz="3600" dirty="0"/>
              <a:t>Conclusion</a:t>
            </a:r>
            <a:endParaRPr lang="en-IN" sz="3600" dirty="0"/>
          </a:p>
        </p:txBody>
      </p:sp>
      <p:sp>
        <p:nvSpPr>
          <p:cNvPr id="4" name="Rectangle 1">
            <a:extLst>
              <a:ext uri="{FF2B5EF4-FFF2-40B4-BE49-F238E27FC236}">
                <a16:creationId xmlns:a16="http://schemas.microsoft.com/office/drawing/2014/main" id="{E9918722-F4C2-7A27-BDE0-D1CE56C10AC3}"/>
              </a:ext>
            </a:extLst>
          </p:cNvPr>
          <p:cNvSpPr>
            <a:spLocks noGrp="1" noChangeArrowheads="1"/>
          </p:cNvSpPr>
          <p:nvPr>
            <p:ph sz="quarter" idx="13"/>
          </p:nvPr>
        </p:nvSpPr>
        <p:spPr bwMode="auto">
          <a:xfrm>
            <a:off x="448021" y="702183"/>
            <a:ext cx="9800535"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Sales outcomes differ significantly across regions, highlighting unequal growth opportunities in different markets.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Sustained revenue is largely driven by strong long-term customer relationships and repeat engagement.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 small number of leading music genres account for the majority of total sales.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Customer spending remains relatively stable, though purchase frequency varies across segments.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External market factors heavily influence customer purchasing behavior and demand patterns.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These insights enable more precise, data-driven strategies for improving performance and decision-making. </a:t>
            </a:r>
          </a:p>
        </p:txBody>
      </p:sp>
    </p:spTree>
    <p:extLst>
      <p:ext uri="{BB962C8B-B14F-4D97-AF65-F5344CB8AC3E}">
        <p14:creationId xmlns:p14="http://schemas.microsoft.com/office/powerpoint/2010/main" val="133425305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
  <TotalTime>148</TotalTime>
  <Words>992</Words>
  <Application>Microsoft Office PowerPoint</Application>
  <PresentationFormat>Widescreen</PresentationFormat>
  <Paragraphs>128</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Gill Sans MT</vt:lpstr>
      <vt:lpstr>Gallery</vt:lpstr>
      <vt:lpstr>EXPLORING THE CHINOOK MUSIC STORE DATABASE</vt:lpstr>
      <vt:lpstr>Problem statement</vt:lpstr>
      <vt:lpstr>From Music to Customer: Chinook Workflow</vt:lpstr>
      <vt:lpstr>Data Overivew</vt:lpstr>
      <vt:lpstr>Database schema</vt:lpstr>
      <vt:lpstr>PowerPoint Presentation</vt:lpstr>
      <vt:lpstr>PowerPoint Presentation</vt:lpstr>
      <vt:lpstr>PowerPoint Presentation</vt:lpstr>
      <vt:lpstr>PowerPoint Presentation</vt:lpstr>
      <vt:lpstr>PowerPoint Presentation</vt:lpstr>
      <vt:lpstr>Strategic Recommendations for Growth &amp; Retention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Roshan Chawla</dc:creator>
  <cp:lastModifiedBy>Piyush Bagade</cp:lastModifiedBy>
  <cp:revision>4</cp:revision>
  <dcterms:created xsi:type="dcterms:W3CDTF">2024-08-28T17:39:45Z</dcterms:created>
  <dcterms:modified xsi:type="dcterms:W3CDTF">2026-04-19T16:07:16Z</dcterms:modified>
</cp:coreProperties>
</file>